
<file path=[Content_Types].xml><?xml version="1.0" encoding="utf-8"?>
<Types xmlns="http://schemas.openxmlformats.org/package/2006/content-types">
  <Default ContentType="application/x-fontdata" Extension="fntdata"/>
  <Default ContentType="image/jpeg" Extension="jpeg"/>
  <Default ContentType="audio/m4a" Extension="m4a"/>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Biski Bold" charset="1" panose="00000000000000000000"/>
      <p:regular r:id="rId15"/>
    </p:embeddedFont>
    <p:embeddedFont>
      <p:font typeface="Hero Bold" charset="1" panose="00000500000000000000"/>
      <p:regular r:id="rId16"/>
    </p:embeddedFont>
    <p:embeddedFont>
      <p:font typeface="Hero" charset="1" panose="00000500000000000000"/>
      <p:regular r:id="rId17"/>
    </p:embeddedFont>
    <p:embeddedFont>
      <p:font typeface="Arimo" charset="1" panose="020B0604020202020204"/>
      <p:regular r:id="rId18"/>
    </p:embeddedFont>
    <p:embeddedFont>
      <p:font typeface="Open Sans" charset="1" panose="020B0606030504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png" Type="http://schemas.openxmlformats.org/officeDocument/2006/relationships/image"/><Relationship Id="rId27" Target="../media/image26.png" Type="http://schemas.openxmlformats.org/officeDocument/2006/relationships/image"/><Relationship Id="rId28" Target="../media/image59.jpeg" Type="http://schemas.openxmlformats.org/officeDocument/2006/relationships/image"/><Relationship Id="rId29" Target="../media/aAGKDmluS50.m4a" Type="http://schemas.microsoft.com/office/2007/relationships/media"/><Relationship Id="rId3" Target="../media/image2.png" Type="http://schemas.openxmlformats.org/officeDocument/2006/relationships/image"/><Relationship Id="rId30" Target="../media/aAGKDmluS50.m4a" Type="http://schemas.openxmlformats.org/officeDocument/2006/relationships/audio"/><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15" Target="../media/image39.png" Type="http://schemas.openxmlformats.org/officeDocument/2006/relationships/image"/><Relationship Id="rId16" Target="../media/image40.svg" Type="http://schemas.openxmlformats.org/officeDocument/2006/relationships/image"/><Relationship Id="rId17" Target="../media/image41.png" Type="http://schemas.openxmlformats.org/officeDocument/2006/relationships/image"/><Relationship Id="rId18" Target="../media/image42.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29.png" Type="http://schemas.openxmlformats.org/officeDocument/2006/relationships/image"/><Relationship Id="rId18" Target="../media/image30.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29.png" Type="http://schemas.openxmlformats.org/officeDocument/2006/relationships/image"/><Relationship Id="rId18" Target="../media/image30.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29.png" Type="http://schemas.openxmlformats.org/officeDocument/2006/relationships/image"/><Relationship Id="rId18" Target="../media/image30.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29.png" Type="http://schemas.openxmlformats.org/officeDocument/2006/relationships/image"/><Relationship Id="rId18" Target="../media/image30.svg" Type="http://schemas.openxmlformats.org/officeDocument/2006/relationships/image"/><Relationship Id="rId19" Target="../media/image43.pn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15" Target="../media/image52.png" Type="http://schemas.openxmlformats.org/officeDocument/2006/relationships/image"/><Relationship Id="rId16" Target="../media/image53.svg" Type="http://schemas.openxmlformats.org/officeDocument/2006/relationships/image"/><Relationship Id="rId17" Target="../media/image54.png" Type="http://schemas.openxmlformats.org/officeDocument/2006/relationships/image"/><Relationship Id="rId18" Target="../media/image55.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15" Target="../media/image52.png" Type="http://schemas.openxmlformats.org/officeDocument/2006/relationships/image"/><Relationship Id="rId16" Target="../media/image53.svg" Type="http://schemas.openxmlformats.org/officeDocument/2006/relationships/image"/><Relationship Id="rId17" Target="../media/image54.png" Type="http://schemas.openxmlformats.org/officeDocument/2006/relationships/image"/><Relationship Id="rId18" Target="../media/image55.svg" Type="http://schemas.openxmlformats.org/officeDocument/2006/relationships/image"/><Relationship Id="rId19" Target="../media/image56.jpeg" Type="http://schemas.openxmlformats.org/officeDocument/2006/relationships/image"/><Relationship Id="rId2" Target="../media/image1.jpeg" Type="http://schemas.openxmlformats.org/officeDocument/2006/relationships/image"/><Relationship Id="rId20" Target="../media/image57.jpeg" Type="http://schemas.openxmlformats.org/officeDocument/2006/relationships/image"/><Relationship Id="rId21" Target="../media/image58.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17" Target="../media/image44.png" Type="http://schemas.openxmlformats.org/officeDocument/2006/relationships/image"/><Relationship Id="rId18" Target="../media/image45.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833046">
            <a:off x="14052176" y="6265497"/>
            <a:ext cx="5966764" cy="4803245"/>
          </a:xfrm>
          <a:custGeom>
            <a:avLst/>
            <a:gdLst/>
            <a:ahLst/>
            <a:cxnLst/>
            <a:rect r="r" b="b" t="t" l="l"/>
            <a:pathLst>
              <a:path h="4803245" w="5966764">
                <a:moveTo>
                  <a:pt x="0" y="0"/>
                </a:moveTo>
                <a:lnTo>
                  <a:pt x="5966765" y="0"/>
                </a:lnTo>
                <a:lnTo>
                  <a:pt x="5966765" y="4803245"/>
                </a:lnTo>
                <a:lnTo>
                  <a:pt x="0" y="4803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true" flipV="true" rot="3137578">
            <a:off x="-1613944" y="-335787"/>
            <a:ext cx="4042791" cy="4114800"/>
          </a:xfrm>
          <a:custGeom>
            <a:avLst/>
            <a:gdLst/>
            <a:ahLst/>
            <a:cxnLst/>
            <a:rect r="r" b="b" t="t" l="l"/>
            <a:pathLst>
              <a:path h="4114800" w="4042791">
                <a:moveTo>
                  <a:pt x="4042791" y="4114800"/>
                </a:moveTo>
                <a:lnTo>
                  <a:pt x="0" y="4114800"/>
                </a:lnTo>
                <a:lnTo>
                  <a:pt x="0" y="0"/>
                </a:lnTo>
                <a:lnTo>
                  <a:pt x="4042791" y="0"/>
                </a:lnTo>
                <a:lnTo>
                  <a:pt x="4042791" y="411480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2830808" y="9540717"/>
            <a:ext cx="2065200" cy="880291"/>
          </a:xfrm>
          <a:custGeom>
            <a:avLst/>
            <a:gdLst/>
            <a:ahLst/>
            <a:cxnLst/>
            <a:rect r="r" b="b" t="t" l="l"/>
            <a:pathLst>
              <a:path h="880291" w="2065200">
                <a:moveTo>
                  <a:pt x="0" y="0"/>
                </a:moveTo>
                <a:lnTo>
                  <a:pt x="2065200" y="0"/>
                </a:lnTo>
                <a:lnTo>
                  <a:pt x="2065200" y="880291"/>
                </a:lnTo>
                <a:lnTo>
                  <a:pt x="0" y="8802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true" rot="0">
            <a:off x="6641952" y="0"/>
            <a:ext cx="2062556" cy="1028700"/>
          </a:xfrm>
          <a:custGeom>
            <a:avLst/>
            <a:gdLst/>
            <a:ahLst/>
            <a:cxnLst/>
            <a:rect r="r" b="b" t="t" l="l"/>
            <a:pathLst>
              <a:path h="1028700" w="2062556">
                <a:moveTo>
                  <a:pt x="0" y="1028700"/>
                </a:moveTo>
                <a:lnTo>
                  <a:pt x="2062557" y="1028700"/>
                </a:lnTo>
                <a:lnTo>
                  <a:pt x="2062557" y="0"/>
                </a:lnTo>
                <a:lnTo>
                  <a:pt x="0" y="0"/>
                </a:lnTo>
                <a:lnTo>
                  <a:pt x="0" y="102870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5383509" y="5718769"/>
            <a:ext cx="1148927" cy="2122728"/>
          </a:xfrm>
          <a:custGeom>
            <a:avLst/>
            <a:gdLst/>
            <a:ahLst/>
            <a:cxnLst/>
            <a:rect r="r" b="b" t="t" l="l"/>
            <a:pathLst>
              <a:path h="2122728" w="1148927">
                <a:moveTo>
                  <a:pt x="0" y="0"/>
                </a:moveTo>
                <a:lnTo>
                  <a:pt x="1148926" y="0"/>
                </a:lnTo>
                <a:lnTo>
                  <a:pt x="1148926" y="2122728"/>
                </a:lnTo>
                <a:lnTo>
                  <a:pt x="0" y="21227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798002" y="2666711"/>
            <a:ext cx="1267386" cy="1385121"/>
          </a:xfrm>
          <a:custGeom>
            <a:avLst/>
            <a:gdLst/>
            <a:ahLst/>
            <a:cxnLst/>
            <a:rect r="r" b="b" t="t" l="l"/>
            <a:pathLst>
              <a:path h="1385121" w="1267386">
                <a:moveTo>
                  <a:pt x="0" y="0"/>
                </a:moveTo>
                <a:lnTo>
                  <a:pt x="1267386" y="0"/>
                </a:lnTo>
                <a:lnTo>
                  <a:pt x="1267386" y="1385122"/>
                </a:lnTo>
                <a:lnTo>
                  <a:pt x="0" y="13851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3271494" y="2685947"/>
            <a:ext cx="11745011" cy="4536511"/>
          </a:xfrm>
          <a:custGeom>
            <a:avLst/>
            <a:gdLst/>
            <a:ahLst/>
            <a:cxnLst/>
            <a:rect r="r" b="b" t="t" l="l"/>
            <a:pathLst>
              <a:path h="4536511" w="11745011">
                <a:moveTo>
                  <a:pt x="0" y="0"/>
                </a:moveTo>
                <a:lnTo>
                  <a:pt x="11745012" y="0"/>
                </a:lnTo>
                <a:lnTo>
                  <a:pt x="11745012" y="4536510"/>
                </a:lnTo>
                <a:lnTo>
                  <a:pt x="0" y="453651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6478791" y="6626146"/>
            <a:ext cx="4936241" cy="974908"/>
          </a:xfrm>
          <a:custGeom>
            <a:avLst/>
            <a:gdLst/>
            <a:ahLst/>
            <a:cxnLst/>
            <a:rect r="r" b="b" t="t" l="l"/>
            <a:pathLst>
              <a:path h="974908" w="4936241">
                <a:moveTo>
                  <a:pt x="0" y="0"/>
                </a:moveTo>
                <a:lnTo>
                  <a:pt x="4936241" y="0"/>
                </a:lnTo>
                <a:lnTo>
                  <a:pt x="4936241" y="974907"/>
                </a:lnTo>
                <a:lnTo>
                  <a:pt x="0" y="97490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589516" y="6906534"/>
            <a:ext cx="4822476" cy="3074328"/>
          </a:xfrm>
          <a:custGeom>
            <a:avLst/>
            <a:gdLst/>
            <a:ahLst/>
            <a:cxnLst/>
            <a:rect r="r" b="b" t="t" l="l"/>
            <a:pathLst>
              <a:path h="3074328" w="4822476">
                <a:moveTo>
                  <a:pt x="0" y="0"/>
                </a:moveTo>
                <a:lnTo>
                  <a:pt x="4822475" y="0"/>
                </a:lnTo>
                <a:lnTo>
                  <a:pt x="4822475" y="3074329"/>
                </a:lnTo>
                <a:lnTo>
                  <a:pt x="0" y="30743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2" id="12"/>
          <p:cNvSpPr/>
          <p:nvPr/>
        </p:nvSpPr>
        <p:spPr>
          <a:xfrm flipH="false" flipV="false" rot="0">
            <a:off x="15000695" y="1018095"/>
            <a:ext cx="2258605" cy="3297234"/>
          </a:xfrm>
          <a:custGeom>
            <a:avLst/>
            <a:gdLst/>
            <a:ahLst/>
            <a:cxnLst/>
            <a:rect r="r" b="b" t="t" l="l"/>
            <a:pathLst>
              <a:path h="3297234" w="2258605">
                <a:moveTo>
                  <a:pt x="0" y="0"/>
                </a:moveTo>
                <a:lnTo>
                  <a:pt x="2258605" y="0"/>
                </a:lnTo>
                <a:lnTo>
                  <a:pt x="2258605" y="3297233"/>
                </a:lnTo>
                <a:lnTo>
                  <a:pt x="0" y="329723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3" id="13"/>
          <p:cNvSpPr/>
          <p:nvPr/>
        </p:nvSpPr>
        <p:spPr>
          <a:xfrm flipH="false" flipV="false" rot="-7206553">
            <a:off x="16627142" y="691700"/>
            <a:ext cx="2445709" cy="464685"/>
          </a:xfrm>
          <a:custGeom>
            <a:avLst/>
            <a:gdLst/>
            <a:ahLst/>
            <a:cxnLst/>
            <a:rect r="r" b="b" t="t" l="l"/>
            <a:pathLst>
              <a:path h="464685" w="2445709">
                <a:moveTo>
                  <a:pt x="0" y="0"/>
                </a:moveTo>
                <a:lnTo>
                  <a:pt x="2445709" y="0"/>
                </a:lnTo>
                <a:lnTo>
                  <a:pt x="2445709" y="464684"/>
                </a:lnTo>
                <a:lnTo>
                  <a:pt x="0" y="46468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4" id="14"/>
          <p:cNvSpPr/>
          <p:nvPr/>
        </p:nvSpPr>
        <p:spPr>
          <a:xfrm flipH="false" flipV="false" rot="0">
            <a:off x="288955" y="184297"/>
            <a:ext cx="739745" cy="739745"/>
          </a:xfrm>
          <a:custGeom>
            <a:avLst/>
            <a:gdLst/>
            <a:ahLst/>
            <a:cxnLst/>
            <a:rect r="r" b="b" t="t" l="l"/>
            <a:pathLst>
              <a:path h="739745" w="739745">
                <a:moveTo>
                  <a:pt x="0" y="0"/>
                </a:moveTo>
                <a:lnTo>
                  <a:pt x="739745" y="0"/>
                </a:lnTo>
                <a:lnTo>
                  <a:pt x="739745" y="739745"/>
                </a:lnTo>
                <a:lnTo>
                  <a:pt x="0" y="739745"/>
                </a:lnTo>
                <a:lnTo>
                  <a:pt x="0" y="0"/>
                </a:lnTo>
                <a:close/>
              </a:path>
            </a:pathLst>
          </a:custGeom>
          <a:blipFill>
            <a:blip r:embed="rId25"/>
            <a:stretch>
              <a:fillRect l="0" t="0" r="0" b="0"/>
            </a:stretch>
          </a:blipFill>
        </p:spPr>
      </p:sp>
      <p:sp>
        <p:nvSpPr>
          <p:cNvPr name="Freeform 15" id="15"/>
          <p:cNvSpPr/>
          <p:nvPr/>
        </p:nvSpPr>
        <p:spPr>
          <a:xfrm flipH="false" flipV="false" rot="0">
            <a:off x="1173654" y="271314"/>
            <a:ext cx="746781" cy="746781"/>
          </a:xfrm>
          <a:custGeom>
            <a:avLst/>
            <a:gdLst/>
            <a:ahLst/>
            <a:cxnLst/>
            <a:rect r="r" b="b" t="t" l="l"/>
            <a:pathLst>
              <a:path h="746781" w="746781">
                <a:moveTo>
                  <a:pt x="0" y="0"/>
                </a:moveTo>
                <a:lnTo>
                  <a:pt x="746780" y="0"/>
                </a:lnTo>
                <a:lnTo>
                  <a:pt x="746780" y="746781"/>
                </a:lnTo>
                <a:lnTo>
                  <a:pt x="0" y="746781"/>
                </a:lnTo>
                <a:lnTo>
                  <a:pt x="0" y="0"/>
                </a:lnTo>
                <a:close/>
              </a:path>
            </a:pathLst>
          </a:custGeom>
          <a:blipFill>
            <a:blip r:embed="rId26"/>
            <a:stretch>
              <a:fillRect l="0" t="0" r="0" b="0"/>
            </a:stretch>
          </a:blipFill>
        </p:spPr>
      </p:sp>
      <p:sp>
        <p:nvSpPr>
          <p:cNvPr name="Freeform 16" id="16"/>
          <p:cNvSpPr/>
          <p:nvPr/>
        </p:nvSpPr>
        <p:spPr>
          <a:xfrm flipH="false" flipV="false" rot="0">
            <a:off x="2065388" y="191386"/>
            <a:ext cx="732656" cy="732656"/>
          </a:xfrm>
          <a:custGeom>
            <a:avLst/>
            <a:gdLst/>
            <a:ahLst/>
            <a:cxnLst/>
            <a:rect r="r" b="b" t="t" l="l"/>
            <a:pathLst>
              <a:path h="732656" w="732656">
                <a:moveTo>
                  <a:pt x="0" y="0"/>
                </a:moveTo>
                <a:lnTo>
                  <a:pt x="732656" y="0"/>
                </a:lnTo>
                <a:lnTo>
                  <a:pt x="732656" y="732656"/>
                </a:lnTo>
                <a:lnTo>
                  <a:pt x="0" y="732656"/>
                </a:lnTo>
                <a:lnTo>
                  <a:pt x="0" y="0"/>
                </a:lnTo>
                <a:close/>
              </a:path>
            </a:pathLst>
          </a:custGeom>
          <a:blipFill>
            <a:blip r:embed="rId27"/>
            <a:stretch>
              <a:fillRect l="0" t="0" r="0" b="0"/>
            </a:stretch>
          </a:blipFill>
        </p:spPr>
      </p:sp>
      <p:sp>
        <p:nvSpPr>
          <p:cNvPr name="TextBox 17" id="17"/>
          <p:cNvSpPr txBox="true"/>
          <p:nvPr/>
        </p:nvSpPr>
        <p:spPr>
          <a:xfrm rot="0">
            <a:off x="4156744" y="3569935"/>
            <a:ext cx="9974512" cy="2656161"/>
          </a:xfrm>
          <a:prstGeom prst="rect">
            <a:avLst/>
          </a:prstGeom>
        </p:spPr>
        <p:txBody>
          <a:bodyPr anchor="t" rtlCol="false" tIns="0" lIns="0" bIns="0" rIns="0">
            <a:spAutoFit/>
          </a:bodyPr>
          <a:lstStyle/>
          <a:p>
            <a:pPr algn="ctr">
              <a:lnSpc>
                <a:spcPts val="3698"/>
              </a:lnSpc>
            </a:pPr>
            <a:r>
              <a:rPr lang="en-US" b="true" sz="3698">
                <a:solidFill>
                  <a:srgbClr val="313636"/>
                </a:solidFill>
                <a:latin typeface="Biski Bold"/>
                <a:ea typeface="Biski Bold"/>
                <a:cs typeface="Biski Bold"/>
                <a:sym typeface="Biski Bold"/>
              </a:rPr>
              <a:t>PENERAPAN METODE INVERSE TRANSFORM DALAM PEMBANGKIT DATA CURAH HUJAN DI KABUPATEN LAMPUNG SELATAN TAHUN 2024</a:t>
            </a:r>
          </a:p>
          <a:p>
            <a:pPr algn="ctr">
              <a:lnSpc>
                <a:spcPts val="3698"/>
              </a:lnSpc>
            </a:pPr>
          </a:p>
        </p:txBody>
      </p:sp>
      <p:sp>
        <p:nvSpPr>
          <p:cNvPr name="TextBox 18" id="18"/>
          <p:cNvSpPr txBox="true"/>
          <p:nvPr/>
        </p:nvSpPr>
        <p:spPr>
          <a:xfrm rot="0">
            <a:off x="5411991" y="6902572"/>
            <a:ext cx="7069841" cy="409173"/>
          </a:xfrm>
          <a:prstGeom prst="rect">
            <a:avLst/>
          </a:prstGeom>
        </p:spPr>
        <p:txBody>
          <a:bodyPr anchor="t" rtlCol="false" tIns="0" lIns="0" bIns="0" rIns="0">
            <a:spAutoFit/>
          </a:bodyPr>
          <a:lstStyle/>
          <a:p>
            <a:pPr algn="ctr">
              <a:lnSpc>
                <a:spcPts val="3013"/>
              </a:lnSpc>
            </a:pPr>
            <a:r>
              <a:rPr lang="en-US" sz="3013">
                <a:solidFill>
                  <a:srgbClr val="FFFFFF"/>
                </a:solidFill>
                <a:latin typeface="Hero Bold"/>
                <a:ea typeface="Hero Bold"/>
                <a:cs typeface="Hero Bold"/>
                <a:sym typeface="Hero Bold"/>
              </a:rPr>
              <a:t>KELOMPOK 11 - RA</a:t>
            </a:r>
          </a:p>
        </p:txBody>
      </p:sp>
      <p:sp>
        <p:nvSpPr>
          <p:cNvPr name="TextBox 19" id="19"/>
          <p:cNvSpPr txBox="true"/>
          <p:nvPr/>
        </p:nvSpPr>
        <p:spPr>
          <a:xfrm rot="0">
            <a:off x="7435804" y="7879597"/>
            <a:ext cx="10790008" cy="311702"/>
          </a:xfrm>
          <a:prstGeom prst="rect">
            <a:avLst/>
          </a:prstGeom>
        </p:spPr>
        <p:txBody>
          <a:bodyPr anchor="t" rtlCol="false" tIns="0" lIns="0" bIns="0" rIns="0">
            <a:spAutoFit/>
          </a:bodyPr>
          <a:lstStyle/>
          <a:p>
            <a:pPr algn="just" marL="0" indent="0" lvl="0">
              <a:lnSpc>
                <a:spcPts val="2333"/>
              </a:lnSpc>
              <a:spcBef>
                <a:spcPct val="0"/>
              </a:spcBef>
            </a:pPr>
            <a:r>
              <a:rPr lang="en-US" sz="2333">
                <a:solidFill>
                  <a:srgbClr val="313636"/>
                </a:solidFill>
                <a:latin typeface="Hero Bold"/>
                <a:ea typeface="Hero Bold"/>
                <a:cs typeface="Hero Bold"/>
                <a:sym typeface="Hero Bold"/>
              </a:rPr>
              <a:t>Anggota Kelompok:</a:t>
            </a:r>
          </a:p>
        </p:txBody>
      </p:sp>
      <p:sp>
        <p:nvSpPr>
          <p:cNvPr name="TextBox 20" id="20"/>
          <p:cNvSpPr txBox="true"/>
          <p:nvPr/>
        </p:nvSpPr>
        <p:spPr>
          <a:xfrm rot="0">
            <a:off x="7059988" y="8232674"/>
            <a:ext cx="10790008" cy="906991"/>
          </a:xfrm>
          <a:prstGeom prst="rect">
            <a:avLst/>
          </a:prstGeom>
        </p:spPr>
        <p:txBody>
          <a:bodyPr anchor="t" rtlCol="false" tIns="0" lIns="0" bIns="0" rIns="0">
            <a:spAutoFit/>
          </a:bodyPr>
          <a:lstStyle/>
          <a:p>
            <a:pPr algn="just" marL="503758" indent="-251879" lvl="1">
              <a:lnSpc>
                <a:spcPts val="2333"/>
              </a:lnSpc>
              <a:buFont typeface="Arial"/>
              <a:buChar char="•"/>
            </a:pPr>
            <a:r>
              <a:rPr lang="en-US" sz="2333">
                <a:solidFill>
                  <a:srgbClr val="313636"/>
                </a:solidFill>
                <a:latin typeface="Hero Bold"/>
                <a:ea typeface="Hero Bold"/>
                <a:cs typeface="Hero Bold"/>
                <a:sym typeface="Hero Bold"/>
              </a:rPr>
              <a:t>Dea Amanda - 123450006</a:t>
            </a:r>
          </a:p>
          <a:p>
            <a:pPr algn="just" marL="503758" indent="-251879" lvl="1">
              <a:lnSpc>
                <a:spcPts val="2333"/>
              </a:lnSpc>
              <a:buFont typeface="Arial"/>
              <a:buChar char="•"/>
            </a:pPr>
            <a:r>
              <a:rPr lang="en-US" sz="2333">
                <a:solidFill>
                  <a:srgbClr val="313636"/>
                </a:solidFill>
                <a:latin typeface="Hero Bold"/>
                <a:ea typeface="Hero Bold"/>
                <a:cs typeface="Hero Bold"/>
                <a:sym typeface="Hero Bold"/>
              </a:rPr>
              <a:t>Erma Daniar Safitri - 123450061</a:t>
            </a:r>
          </a:p>
          <a:p>
            <a:pPr algn="just" marL="503758" indent="-251879" lvl="1">
              <a:lnSpc>
                <a:spcPts val="2333"/>
              </a:lnSpc>
              <a:buFont typeface="Arial"/>
              <a:buChar char="•"/>
            </a:pPr>
            <a:r>
              <a:rPr lang="en-US" sz="2333">
                <a:solidFill>
                  <a:srgbClr val="313636"/>
                </a:solidFill>
                <a:latin typeface="Hero Bold"/>
                <a:ea typeface="Hero Bold"/>
                <a:cs typeface="Hero Bold"/>
                <a:sym typeface="Hero Bold"/>
              </a:rPr>
              <a:t>Ahmad Farhan Ghani - 123450121</a:t>
            </a:r>
          </a:p>
        </p:txBody>
      </p:sp>
      <p:pic>
        <p:nvPicPr>
          <p:cNvPr name="Picture 21" id="21">
            <a:hlinkClick action="ppaction://media"/>
          </p:cNvPr>
          <p:cNvPicPr>
            <a:picLocks noChangeAspect="true"/>
          </p:cNvPicPr>
          <p:nvPr>
            <a:audioFile r:link="rId30"/>
            <p:extLst>
              <p:ext uri="{DAA4B4D4-6D71-4841-9C94-3DE7FCFB9230}">
                <p14:media xmlns:p14="http://schemas.microsoft.com/office/powerpoint/2010/main" r:embed="rId29"/>
              </p:ext>
            </p:extLst>
          </p:nvPr>
        </p:nvPicPr>
        <p:blipFill>
          <a:blip r:embed="rId28"/>
          <a:stretch>
            <a:fillRect/>
          </a:stretch>
        </p:blipFill>
        <p:spPr>
          <a:xfrm>
            <a:off x="8629650" y="4629150"/>
            <a:ext cx="1028700" cy="1028700"/>
          </a:xfrm>
          <a:prstGeom prst="rect">
            <a:avLst/>
          </a:prstGeom>
        </p:spPr>
      </p:pic>
    </p:spTree>
  </p:cSld>
  <p:clrMapOvr>
    <a:masterClrMapping/>
  </p:clrMapOvr>
  <p:timing>
    <p:tnLst>
      <p:par>
        <p:cTn dur="indefinite" restart="never" nodeType="tmRoot">
          <p:childTnLst>
            <p:cmd cmd="playFrom(0.0)">
              <p:cBhvr>
                <p:cTn/>
                <p:tgtEl>
                  <p:spTgt spid="21"/>
                </p:tgtEl>
              </p:cBhvr>
            </p:cmd>
            <p:audio>
              <p:cMediaNode vol="100000" showWhenStopped="false">
                <p:cTn/>
                <p:tgtEl>
                  <p:spTgt spid="21"/>
                </p:tgtEl>
              </p:cMediaNode>
            </p:audi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853931" y="1348538"/>
            <a:ext cx="12580139" cy="7909762"/>
          </a:xfrm>
          <a:custGeom>
            <a:avLst/>
            <a:gdLst/>
            <a:ahLst/>
            <a:cxnLst/>
            <a:rect r="r" b="b" t="t" l="l"/>
            <a:pathLst>
              <a:path h="7909762" w="12580139">
                <a:moveTo>
                  <a:pt x="0" y="0"/>
                </a:moveTo>
                <a:lnTo>
                  <a:pt x="12580138" y="0"/>
                </a:lnTo>
                <a:lnTo>
                  <a:pt x="12580138" y="7909762"/>
                </a:lnTo>
                <a:lnTo>
                  <a:pt x="0" y="7909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6478791" y="861084"/>
            <a:ext cx="4936241" cy="974908"/>
          </a:xfrm>
          <a:custGeom>
            <a:avLst/>
            <a:gdLst/>
            <a:ahLst/>
            <a:cxnLst/>
            <a:rect r="r" b="b" t="t" l="l"/>
            <a:pathLst>
              <a:path h="974908" w="4936241">
                <a:moveTo>
                  <a:pt x="0" y="0"/>
                </a:moveTo>
                <a:lnTo>
                  <a:pt x="4936241" y="0"/>
                </a:lnTo>
                <a:lnTo>
                  <a:pt x="4936241" y="974908"/>
                </a:lnTo>
                <a:lnTo>
                  <a:pt x="0" y="9749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2368348">
            <a:off x="-832487" y="-534929"/>
            <a:ext cx="3722374" cy="2475379"/>
          </a:xfrm>
          <a:custGeom>
            <a:avLst/>
            <a:gdLst/>
            <a:ahLst/>
            <a:cxnLst/>
            <a:rect r="r" b="b" t="t" l="l"/>
            <a:pathLst>
              <a:path h="2475379" w="3722374">
                <a:moveTo>
                  <a:pt x="0" y="0"/>
                </a:moveTo>
                <a:lnTo>
                  <a:pt x="3722374" y="0"/>
                </a:lnTo>
                <a:lnTo>
                  <a:pt x="3722374" y="2475379"/>
                </a:lnTo>
                <a:lnTo>
                  <a:pt x="0" y="2475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7048873">
            <a:off x="15691057" y="7697999"/>
            <a:ext cx="3696920" cy="2823522"/>
          </a:xfrm>
          <a:custGeom>
            <a:avLst/>
            <a:gdLst/>
            <a:ahLst/>
            <a:cxnLst/>
            <a:rect r="r" b="b" t="t" l="l"/>
            <a:pathLst>
              <a:path h="2823522" w="3696920">
                <a:moveTo>
                  <a:pt x="0" y="0"/>
                </a:moveTo>
                <a:lnTo>
                  <a:pt x="3696920" y="0"/>
                </a:lnTo>
                <a:lnTo>
                  <a:pt x="3696920" y="2823522"/>
                </a:lnTo>
                <a:lnTo>
                  <a:pt x="0" y="28235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7158265">
            <a:off x="15814505" y="684745"/>
            <a:ext cx="3057776" cy="1024355"/>
          </a:xfrm>
          <a:custGeom>
            <a:avLst/>
            <a:gdLst/>
            <a:ahLst/>
            <a:cxnLst/>
            <a:rect r="r" b="b" t="t" l="l"/>
            <a:pathLst>
              <a:path h="1024355" w="3057776">
                <a:moveTo>
                  <a:pt x="0" y="0"/>
                </a:moveTo>
                <a:lnTo>
                  <a:pt x="3057776" y="0"/>
                </a:lnTo>
                <a:lnTo>
                  <a:pt x="3057776" y="1024355"/>
                </a:lnTo>
                <a:lnTo>
                  <a:pt x="0" y="102435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712541" y="8577958"/>
            <a:ext cx="3207390" cy="1888351"/>
          </a:xfrm>
          <a:custGeom>
            <a:avLst/>
            <a:gdLst/>
            <a:ahLst/>
            <a:cxnLst/>
            <a:rect r="r" b="b" t="t" l="l"/>
            <a:pathLst>
              <a:path h="1888351" w="3207390">
                <a:moveTo>
                  <a:pt x="0" y="0"/>
                </a:moveTo>
                <a:lnTo>
                  <a:pt x="3207390" y="0"/>
                </a:lnTo>
                <a:lnTo>
                  <a:pt x="3207390" y="1888351"/>
                </a:lnTo>
                <a:lnTo>
                  <a:pt x="0" y="188835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5400000">
            <a:off x="962967" y="6404540"/>
            <a:ext cx="2556712" cy="827735"/>
          </a:xfrm>
          <a:custGeom>
            <a:avLst/>
            <a:gdLst/>
            <a:ahLst/>
            <a:cxnLst/>
            <a:rect r="r" b="b" t="t" l="l"/>
            <a:pathLst>
              <a:path h="827735" w="2556712">
                <a:moveTo>
                  <a:pt x="0" y="0"/>
                </a:moveTo>
                <a:lnTo>
                  <a:pt x="2556712" y="0"/>
                </a:lnTo>
                <a:lnTo>
                  <a:pt x="2556712" y="827736"/>
                </a:lnTo>
                <a:lnTo>
                  <a:pt x="0" y="82773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2607241">
            <a:off x="2049569" y="514502"/>
            <a:ext cx="890560" cy="1364843"/>
          </a:xfrm>
          <a:custGeom>
            <a:avLst/>
            <a:gdLst/>
            <a:ahLst/>
            <a:cxnLst/>
            <a:rect r="r" b="b" t="t" l="l"/>
            <a:pathLst>
              <a:path h="1364843" w="890560">
                <a:moveTo>
                  <a:pt x="0" y="0"/>
                </a:moveTo>
                <a:lnTo>
                  <a:pt x="890560" y="0"/>
                </a:lnTo>
                <a:lnTo>
                  <a:pt x="890560" y="1364842"/>
                </a:lnTo>
                <a:lnTo>
                  <a:pt x="0" y="13648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1" id="11"/>
          <p:cNvSpPr txBox="true"/>
          <p:nvPr/>
        </p:nvSpPr>
        <p:spPr>
          <a:xfrm rot="0">
            <a:off x="6839181" y="765834"/>
            <a:ext cx="4215462" cy="854075"/>
          </a:xfrm>
          <a:prstGeom prst="rect">
            <a:avLst/>
          </a:prstGeom>
        </p:spPr>
        <p:txBody>
          <a:bodyPr anchor="t" rtlCol="false" tIns="0" lIns="0" bIns="0" rIns="0">
            <a:spAutoFit/>
          </a:bodyPr>
          <a:lstStyle/>
          <a:p>
            <a:pPr algn="ctr">
              <a:lnSpc>
                <a:spcPts val="3999"/>
              </a:lnSpc>
            </a:pPr>
            <a:r>
              <a:rPr lang="en-US" b="true" sz="3999">
                <a:solidFill>
                  <a:srgbClr val="FFFFFF"/>
                </a:solidFill>
                <a:latin typeface="Biski Bold"/>
                <a:ea typeface="Biski Bold"/>
                <a:cs typeface="Biski Bold"/>
                <a:sym typeface="Biski Bold"/>
              </a:rPr>
              <a:t>ABSTRAK</a:t>
            </a:r>
          </a:p>
        </p:txBody>
      </p:sp>
      <p:sp>
        <p:nvSpPr>
          <p:cNvPr name="TextBox 12" id="12"/>
          <p:cNvSpPr txBox="true"/>
          <p:nvPr/>
        </p:nvSpPr>
        <p:spPr>
          <a:xfrm rot="0">
            <a:off x="3252215" y="3028047"/>
            <a:ext cx="11651171" cy="3917442"/>
          </a:xfrm>
          <a:prstGeom prst="rect">
            <a:avLst/>
          </a:prstGeom>
        </p:spPr>
        <p:txBody>
          <a:bodyPr anchor="t" rtlCol="false" tIns="0" lIns="0" bIns="0" rIns="0">
            <a:spAutoFit/>
          </a:bodyPr>
          <a:lstStyle/>
          <a:p>
            <a:pPr algn="just">
              <a:lnSpc>
                <a:spcPts val="2018"/>
              </a:lnSpc>
              <a:spcBef>
                <a:spcPct val="0"/>
              </a:spcBef>
            </a:pPr>
            <a:r>
              <a:rPr lang="en-US" sz="2018">
                <a:solidFill>
                  <a:srgbClr val="313636"/>
                </a:solidFill>
                <a:latin typeface="Hero Bold"/>
                <a:ea typeface="Hero Bold"/>
                <a:cs typeface="Hero Bold"/>
                <a:sym typeface="Hero Bold"/>
              </a:rPr>
              <a:t>Penelitian ini bertujuan untuk membangkitkan data curah hujan sintetis di Kabupaten Lampung Selatan tahun 2024 menggunakan metode Inverse Transform sebagai solusi atas keterbatasan data observasi yang sering tidak lengkap, memiliki rentang pendek, atau mengandung nilai hilang. Data curah hujan harian dari BMKG dianalisis melalui statistik deskriptif untuk mengidentifikasi karakteristik dasar seperti rata-rata, median, skewness, dan kurtosis. Distribusi Log-Normal dipilih sebagai model pembangkitan karena sesuai dengan sifat data curah hujan yang positif dan menceng ke kanan. Proses simulasi menghasilkan data acak yang kemudian dibandingkan dengan data asli menggunakan histogram, kurva density, CDF, serta uji kesesuaian Kolmogorov-Smirnov. Hasil penelitian menunjukkan bahwa data simulasi mampu merepresentasikan pola distribusi data asli, terutama dalam hal kemencengan positif dan keberadaan nilai ekstrem. Meski rata-rata dan median simulasi sedikit lebih rendah, struktur distribusinya tetap konsisten dengan data observasi, diperkuat oleh nilai p-value K-S sebesar 0.9891 yang menandakan kesesuaian model yang sangat baik. Secara keseluruhan, metode Inverse Transform terbukti efektif dalam menghasilkan data sintetis curah hujan dan dapat direkomendasikan sebagai pendekatan pendukung analisis hidrologi di wilayah dengan keterbatasan data.</a:t>
            </a:r>
          </a:p>
        </p:txBody>
      </p:sp>
    </p:spTree>
  </p:cSld>
  <p:clrMapOvr>
    <a:masterClrMapping/>
  </p:clrMapOvr>
  <p:transition spd="slow">
    <p:push di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872981" y="1379079"/>
            <a:ext cx="12580139" cy="7909762"/>
          </a:xfrm>
          <a:custGeom>
            <a:avLst/>
            <a:gdLst/>
            <a:ahLst/>
            <a:cxnLst/>
            <a:rect r="r" b="b" t="t" l="l"/>
            <a:pathLst>
              <a:path h="7909762" w="12580139">
                <a:moveTo>
                  <a:pt x="0" y="0"/>
                </a:moveTo>
                <a:lnTo>
                  <a:pt x="12580138" y="0"/>
                </a:lnTo>
                <a:lnTo>
                  <a:pt x="12580138" y="7909762"/>
                </a:lnTo>
                <a:lnTo>
                  <a:pt x="0" y="7909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1827455" y="2437710"/>
            <a:ext cx="7643758" cy="835837"/>
          </a:xfrm>
          <a:prstGeom prst="rect">
            <a:avLst/>
          </a:prstGeom>
        </p:spPr>
        <p:txBody>
          <a:bodyPr anchor="t" rtlCol="false" tIns="0" lIns="0" bIns="0" rIns="0">
            <a:spAutoFit/>
          </a:bodyPr>
          <a:lstStyle/>
          <a:p>
            <a:pPr algn="ctr">
              <a:lnSpc>
                <a:spcPts val="3256"/>
              </a:lnSpc>
            </a:pPr>
            <a:r>
              <a:rPr lang="en-US" sz="3015">
                <a:solidFill>
                  <a:srgbClr val="545286"/>
                </a:solidFill>
                <a:latin typeface="Hero Bold"/>
                <a:ea typeface="Hero Bold"/>
                <a:cs typeface="Hero Bold"/>
                <a:sym typeface="Hero Bold"/>
              </a:rPr>
              <a:t>LATAR BELAKANG</a:t>
            </a:r>
          </a:p>
          <a:p>
            <a:pPr algn="ctr">
              <a:lnSpc>
                <a:spcPts val="3256"/>
              </a:lnSpc>
            </a:pPr>
          </a:p>
        </p:txBody>
      </p:sp>
      <p:sp>
        <p:nvSpPr>
          <p:cNvPr name="TextBox 5" id="5"/>
          <p:cNvSpPr txBox="true"/>
          <p:nvPr/>
        </p:nvSpPr>
        <p:spPr>
          <a:xfrm rot="0">
            <a:off x="3912715" y="2998699"/>
            <a:ext cx="10163738" cy="2144801"/>
          </a:xfrm>
          <a:prstGeom prst="rect">
            <a:avLst/>
          </a:prstGeom>
        </p:spPr>
        <p:txBody>
          <a:bodyPr anchor="t" rtlCol="false" tIns="0" lIns="0" bIns="0" rIns="0">
            <a:spAutoFit/>
          </a:bodyPr>
          <a:lstStyle/>
          <a:p>
            <a:pPr algn="just">
              <a:lnSpc>
                <a:spcPts val="1761"/>
              </a:lnSpc>
              <a:spcBef>
                <a:spcPct val="0"/>
              </a:spcBef>
            </a:pPr>
            <a:r>
              <a:rPr lang="en-US" sz="1761">
                <a:solidFill>
                  <a:srgbClr val="313636"/>
                </a:solidFill>
                <a:latin typeface="Hero Bold"/>
                <a:ea typeface="Hero Bold"/>
                <a:cs typeface="Hero Bold"/>
                <a:sym typeface="Hero Bold"/>
              </a:rPr>
              <a:t>Curah hujan berperan penting dalam sektor pertanian, sumber daya air, dan mitigasi bencana. Di Lampung Selatan, variabilitas curah hujan cukup tinggi sehingga diperlukan pemahaman yang baik untuk perencanaan. Namun, data curah hujan sering tidak lengkap atau terbatas, sehingga menyulitkan analisis hidrologi. </a:t>
            </a:r>
            <a:r>
              <a:rPr lang="en-US" sz="1761">
                <a:solidFill>
                  <a:srgbClr val="313636"/>
                </a:solidFill>
                <a:latin typeface="Hero Bold"/>
                <a:ea typeface="Hero Bold"/>
                <a:cs typeface="Hero Bold"/>
                <a:sym typeface="Hero Bold"/>
              </a:rPr>
              <a:t>Untuk mengatasi hal ini, diperlukan metode pembangkitan data sintetis yang tetap mencerminkan karakteristik data asli. Metode Inverse Transform menjadi pilihan karena mampu menghasilkan data sesuai distribusi probabilitas yang sesuai dengan pola curah hujan. P</a:t>
            </a:r>
            <a:r>
              <a:rPr lang="en-US" sz="1761">
                <a:solidFill>
                  <a:srgbClr val="313636"/>
                </a:solidFill>
                <a:latin typeface="Hero Bold"/>
                <a:ea typeface="Hero Bold"/>
                <a:cs typeface="Hero Bold"/>
                <a:sym typeface="Hero Bold"/>
              </a:rPr>
              <a:t>enelitia</a:t>
            </a:r>
            <a:r>
              <a:rPr lang="en-US" sz="1761">
                <a:solidFill>
                  <a:srgbClr val="313636"/>
                </a:solidFill>
                <a:latin typeface="Hero Bold"/>
                <a:ea typeface="Hero Bold"/>
                <a:cs typeface="Hero Bold"/>
                <a:sym typeface="Hero Bold"/>
              </a:rPr>
              <a:t>n ini menerapkan metode Inverse Transform untuk membangkitkan data curah hujan tahun 2024 di Kabupaten Lampung Selatan, dengan tujuan menghasilkan data sintetis yang mendekati data observasi dan dapat digunakan untuk analisis klimatologi maupun hidrologi.</a:t>
            </a:r>
          </a:p>
        </p:txBody>
      </p:sp>
      <p:sp>
        <p:nvSpPr>
          <p:cNvPr name="Freeform 6" id="6"/>
          <p:cNvSpPr/>
          <p:nvPr/>
        </p:nvSpPr>
        <p:spPr>
          <a:xfrm flipH="false" flipV="false" rot="-2368348">
            <a:off x="-832487" y="-534929"/>
            <a:ext cx="3722374" cy="2475379"/>
          </a:xfrm>
          <a:custGeom>
            <a:avLst/>
            <a:gdLst/>
            <a:ahLst/>
            <a:cxnLst/>
            <a:rect r="r" b="b" t="t" l="l"/>
            <a:pathLst>
              <a:path h="2475379" w="3722374">
                <a:moveTo>
                  <a:pt x="0" y="0"/>
                </a:moveTo>
                <a:lnTo>
                  <a:pt x="3722374" y="0"/>
                </a:lnTo>
                <a:lnTo>
                  <a:pt x="3722374" y="2475379"/>
                </a:lnTo>
                <a:lnTo>
                  <a:pt x="0" y="24753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7048873">
            <a:off x="15691057" y="7697999"/>
            <a:ext cx="3696920" cy="2823522"/>
          </a:xfrm>
          <a:custGeom>
            <a:avLst/>
            <a:gdLst/>
            <a:ahLst/>
            <a:cxnLst/>
            <a:rect r="r" b="b" t="t" l="l"/>
            <a:pathLst>
              <a:path h="2823522" w="3696920">
                <a:moveTo>
                  <a:pt x="0" y="0"/>
                </a:moveTo>
                <a:lnTo>
                  <a:pt x="3696920" y="0"/>
                </a:lnTo>
                <a:lnTo>
                  <a:pt x="3696920" y="2823522"/>
                </a:lnTo>
                <a:lnTo>
                  <a:pt x="0" y="2823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7158265">
            <a:off x="15814505" y="684745"/>
            <a:ext cx="3057776" cy="1024355"/>
          </a:xfrm>
          <a:custGeom>
            <a:avLst/>
            <a:gdLst/>
            <a:ahLst/>
            <a:cxnLst/>
            <a:rect r="r" b="b" t="t" l="l"/>
            <a:pathLst>
              <a:path h="1024355" w="3057776">
                <a:moveTo>
                  <a:pt x="0" y="0"/>
                </a:moveTo>
                <a:lnTo>
                  <a:pt x="3057776" y="0"/>
                </a:lnTo>
                <a:lnTo>
                  <a:pt x="3057776" y="1024355"/>
                </a:lnTo>
                <a:lnTo>
                  <a:pt x="0" y="10243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712541" y="8577958"/>
            <a:ext cx="3207390" cy="1888351"/>
          </a:xfrm>
          <a:custGeom>
            <a:avLst/>
            <a:gdLst/>
            <a:ahLst/>
            <a:cxnLst/>
            <a:rect r="r" b="b" t="t" l="l"/>
            <a:pathLst>
              <a:path h="1888351" w="3207390">
                <a:moveTo>
                  <a:pt x="0" y="0"/>
                </a:moveTo>
                <a:lnTo>
                  <a:pt x="3207390" y="0"/>
                </a:lnTo>
                <a:lnTo>
                  <a:pt x="3207390" y="1888351"/>
                </a:lnTo>
                <a:lnTo>
                  <a:pt x="0" y="18883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5400000">
            <a:off x="962967" y="6404540"/>
            <a:ext cx="2556712" cy="827735"/>
          </a:xfrm>
          <a:custGeom>
            <a:avLst/>
            <a:gdLst/>
            <a:ahLst/>
            <a:cxnLst/>
            <a:rect r="r" b="b" t="t" l="l"/>
            <a:pathLst>
              <a:path h="827735" w="2556712">
                <a:moveTo>
                  <a:pt x="0" y="0"/>
                </a:moveTo>
                <a:lnTo>
                  <a:pt x="2556712" y="0"/>
                </a:lnTo>
                <a:lnTo>
                  <a:pt x="2556712" y="827736"/>
                </a:lnTo>
                <a:lnTo>
                  <a:pt x="0" y="8277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2607241">
            <a:off x="2049569" y="514502"/>
            <a:ext cx="890560" cy="1364843"/>
          </a:xfrm>
          <a:custGeom>
            <a:avLst/>
            <a:gdLst/>
            <a:ahLst/>
            <a:cxnLst/>
            <a:rect r="r" b="b" t="t" l="l"/>
            <a:pathLst>
              <a:path h="1364843" w="890560">
                <a:moveTo>
                  <a:pt x="0" y="0"/>
                </a:moveTo>
                <a:lnTo>
                  <a:pt x="890560" y="0"/>
                </a:lnTo>
                <a:lnTo>
                  <a:pt x="890560" y="1364842"/>
                </a:lnTo>
                <a:lnTo>
                  <a:pt x="0" y="13648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999954" y="5499066"/>
            <a:ext cx="8019404" cy="449742"/>
          </a:xfrm>
          <a:prstGeom prst="rect">
            <a:avLst/>
          </a:prstGeom>
        </p:spPr>
        <p:txBody>
          <a:bodyPr anchor="t" rtlCol="false" tIns="0" lIns="0" bIns="0" rIns="0">
            <a:spAutoFit/>
          </a:bodyPr>
          <a:lstStyle/>
          <a:p>
            <a:pPr algn="ctr">
              <a:lnSpc>
                <a:spcPts val="3416"/>
              </a:lnSpc>
            </a:pPr>
            <a:r>
              <a:rPr lang="en-US" sz="3163">
                <a:solidFill>
                  <a:srgbClr val="545286"/>
                </a:solidFill>
                <a:latin typeface="Hero Bold"/>
                <a:ea typeface="Hero Bold"/>
                <a:cs typeface="Hero Bold"/>
                <a:sym typeface="Hero Bold"/>
              </a:rPr>
              <a:t>RUMUSAN MASALAH</a:t>
            </a:r>
          </a:p>
        </p:txBody>
      </p:sp>
      <p:sp>
        <p:nvSpPr>
          <p:cNvPr name="TextBox 13" id="13"/>
          <p:cNvSpPr txBox="true"/>
          <p:nvPr/>
        </p:nvSpPr>
        <p:spPr>
          <a:xfrm rot="0">
            <a:off x="3782795" y="6082977"/>
            <a:ext cx="9434027" cy="2224343"/>
          </a:xfrm>
          <a:prstGeom prst="rect">
            <a:avLst/>
          </a:prstGeom>
        </p:spPr>
        <p:txBody>
          <a:bodyPr anchor="t" rtlCol="false" tIns="0" lIns="0" bIns="0" rIns="0">
            <a:spAutoFit/>
          </a:bodyPr>
          <a:lstStyle/>
          <a:p>
            <a:pPr algn="just" marL="375526" indent="-187763" lvl="1">
              <a:lnSpc>
                <a:spcPts val="1739"/>
              </a:lnSpc>
              <a:buFont typeface="Arial"/>
              <a:buChar char="•"/>
            </a:pPr>
            <a:r>
              <a:rPr lang="en-US" sz="1739">
                <a:solidFill>
                  <a:srgbClr val="313636"/>
                </a:solidFill>
                <a:latin typeface="Hero Bold"/>
                <a:ea typeface="Hero Bold"/>
                <a:cs typeface="Hero Bold"/>
                <a:sym typeface="Hero Bold"/>
              </a:rPr>
              <a:t>Bagaimana karakteristik statistik dasar (seperti rata-rata, median, varians, dan sebaran) dari data curah hujan harian di Kabupaten Lampung Selatan tahun 2024?</a:t>
            </a:r>
          </a:p>
          <a:p>
            <a:pPr algn="just" marL="375526" indent="-187763" lvl="1">
              <a:lnSpc>
                <a:spcPts val="1739"/>
              </a:lnSpc>
              <a:buFont typeface="Arial"/>
              <a:buChar char="•"/>
            </a:pPr>
            <a:r>
              <a:rPr lang="en-US" sz="1739">
                <a:solidFill>
                  <a:srgbClr val="313636"/>
                </a:solidFill>
                <a:latin typeface="Hero Bold"/>
                <a:ea typeface="Hero Bold"/>
                <a:cs typeface="Hero Bold"/>
                <a:sym typeface="Hero Bold"/>
              </a:rPr>
              <a:t>Bagaimana metode Inverse Transform dapat diterapkan untuk membangkitkan data curah hujan?</a:t>
            </a:r>
          </a:p>
          <a:p>
            <a:pPr algn="just" marL="375526" indent="-187763" lvl="1">
              <a:lnSpc>
                <a:spcPts val="1739"/>
              </a:lnSpc>
              <a:buFont typeface="Arial"/>
              <a:buChar char="•"/>
            </a:pPr>
            <a:r>
              <a:rPr lang="en-US" sz="1739">
                <a:solidFill>
                  <a:srgbClr val="313636"/>
                </a:solidFill>
                <a:latin typeface="Hero Bold"/>
                <a:ea typeface="Hero Bold"/>
                <a:cs typeface="Hero Bold"/>
                <a:sym typeface="Hero Bold"/>
              </a:rPr>
              <a:t>Seberapa baik kesesuaian antara data curah hujan asli hasil pembangkitan dengan data curah hujan simulasi berdasarkan uji kesesuaian dan analisis statistik deskriptif?</a:t>
            </a:r>
          </a:p>
          <a:p>
            <a:pPr algn="just" marL="375526" indent="-187763" lvl="1">
              <a:lnSpc>
                <a:spcPts val="1739"/>
              </a:lnSpc>
              <a:buFont typeface="Arial"/>
              <a:buChar char="•"/>
            </a:pPr>
            <a:r>
              <a:rPr lang="en-US" sz="1739">
                <a:solidFill>
                  <a:srgbClr val="313636"/>
                </a:solidFill>
                <a:latin typeface="Hero Bold"/>
                <a:ea typeface="Hero Bold"/>
                <a:cs typeface="Hero Bold"/>
                <a:sym typeface="Hero Bold"/>
              </a:rPr>
              <a:t>A</a:t>
            </a:r>
            <a:r>
              <a:rPr lang="en-US" sz="1739">
                <a:solidFill>
                  <a:srgbClr val="313636"/>
                </a:solidFill>
                <a:latin typeface="Hero Bold"/>
                <a:ea typeface="Hero Bold"/>
                <a:cs typeface="Hero Bold"/>
                <a:sym typeface="Hero Bold"/>
              </a:rPr>
              <a:t>pakah metode Inverse Transform dapat direkomendasikan sebagai pendekatan pembangkitan data curah hujan untuk analisis hidrologi di Lampung Selatan?</a:t>
            </a:r>
          </a:p>
          <a:p>
            <a:pPr algn="just">
              <a:lnSpc>
                <a:spcPts val="1739"/>
              </a:lnSpc>
              <a:spcBef>
                <a:spcPct val="0"/>
              </a:spcBef>
            </a:pPr>
          </a:p>
        </p:txBody>
      </p:sp>
      <p:sp>
        <p:nvSpPr>
          <p:cNvPr name="Freeform 14" id="14"/>
          <p:cNvSpPr/>
          <p:nvPr/>
        </p:nvSpPr>
        <p:spPr>
          <a:xfrm flipH="false" flipV="false" rot="0">
            <a:off x="5880606" y="768540"/>
            <a:ext cx="6227957" cy="1230022"/>
          </a:xfrm>
          <a:custGeom>
            <a:avLst/>
            <a:gdLst/>
            <a:ahLst/>
            <a:cxnLst/>
            <a:rect r="r" b="b" t="t" l="l"/>
            <a:pathLst>
              <a:path h="1230022" w="6227957">
                <a:moveTo>
                  <a:pt x="0" y="0"/>
                </a:moveTo>
                <a:lnTo>
                  <a:pt x="6227957" y="0"/>
                </a:lnTo>
                <a:lnTo>
                  <a:pt x="6227957" y="1230022"/>
                </a:lnTo>
                <a:lnTo>
                  <a:pt x="0" y="123002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TextBox 15" id="15"/>
          <p:cNvSpPr txBox="true"/>
          <p:nvPr/>
        </p:nvSpPr>
        <p:spPr>
          <a:xfrm rot="0">
            <a:off x="6009657" y="857250"/>
            <a:ext cx="5874510" cy="930977"/>
          </a:xfrm>
          <a:prstGeom prst="rect">
            <a:avLst/>
          </a:prstGeom>
        </p:spPr>
        <p:txBody>
          <a:bodyPr anchor="t" rtlCol="false" tIns="0" lIns="0" bIns="0" rIns="0">
            <a:spAutoFit/>
          </a:bodyPr>
          <a:lstStyle/>
          <a:p>
            <a:pPr algn="ctr">
              <a:lnSpc>
                <a:spcPts val="2733"/>
              </a:lnSpc>
            </a:pPr>
            <a:r>
              <a:rPr lang="en-US" b="true" sz="2733">
                <a:solidFill>
                  <a:srgbClr val="FFFFFF"/>
                </a:solidFill>
                <a:latin typeface="Biski Bold"/>
                <a:ea typeface="Biski Bold"/>
                <a:cs typeface="Biski Bold"/>
                <a:sym typeface="Biski Bold"/>
              </a:rPr>
              <a:t>LATAR BELAKANG &amp; RUMUSAN MASALAH</a:t>
            </a:r>
          </a:p>
        </p:txBody>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853931" y="1348538"/>
            <a:ext cx="12580139" cy="7909762"/>
          </a:xfrm>
          <a:custGeom>
            <a:avLst/>
            <a:gdLst/>
            <a:ahLst/>
            <a:cxnLst/>
            <a:rect r="r" b="b" t="t" l="l"/>
            <a:pathLst>
              <a:path h="7909762" w="12580139">
                <a:moveTo>
                  <a:pt x="0" y="0"/>
                </a:moveTo>
                <a:lnTo>
                  <a:pt x="12580138" y="0"/>
                </a:lnTo>
                <a:lnTo>
                  <a:pt x="12580138" y="7909762"/>
                </a:lnTo>
                <a:lnTo>
                  <a:pt x="0" y="7909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2241323" y="2396201"/>
            <a:ext cx="8114952" cy="445140"/>
          </a:xfrm>
          <a:prstGeom prst="rect">
            <a:avLst/>
          </a:prstGeom>
        </p:spPr>
        <p:txBody>
          <a:bodyPr anchor="t" rtlCol="false" tIns="0" lIns="0" bIns="0" rIns="0">
            <a:spAutoFit/>
          </a:bodyPr>
          <a:lstStyle/>
          <a:p>
            <a:pPr algn="ctr">
              <a:lnSpc>
                <a:spcPts val="3456"/>
              </a:lnSpc>
            </a:pPr>
            <a:r>
              <a:rPr lang="en-US" sz="3200">
                <a:solidFill>
                  <a:srgbClr val="545286"/>
                </a:solidFill>
                <a:latin typeface="Hero Bold"/>
                <a:ea typeface="Hero Bold"/>
                <a:cs typeface="Hero Bold"/>
                <a:sym typeface="Hero Bold"/>
              </a:rPr>
              <a:t>TUJUAN PENELITIAN</a:t>
            </a:r>
          </a:p>
        </p:txBody>
      </p:sp>
      <p:sp>
        <p:nvSpPr>
          <p:cNvPr name="TextBox 5" id="5"/>
          <p:cNvSpPr txBox="true"/>
          <p:nvPr/>
        </p:nvSpPr>
        <p:spPr>
          <a:xfrm rot="0">
            <a:off x="3959007" y="3036703"/>
            <a:ext cx="10739434" cy="2900201"/>
          </a:xfrm>
          <a:prstGeom prst="rect">
            <a:avLst/>
          </a:prstGeom>
        </p:spPr>
        <p:txBody>
          <a:bodyPr anchor="t" rtlCol="false" tIns="0" lIns="0" bIns="0" rIns="0">
            <a:spAutoFit/>
          </a:bodyPr>
          <a:lstStyle/>
          <a:p>
            <a:pPr algn="l" marL="500021" indent="-250010" lvl="1">
              <a:lnSpc>
                <a:spcPts val="2315"/>
              </a:lnSpc>
              <a:buFont typeface="Arial"/>
              <a:buChar char="•"/>
            </a:pPr>
            <a:r>
              <a:rPr lang="en-US" sz="2315">
                <a:solidFill>
                  <a:srgbClr val="313636"/>
                </a:solidFill>
                <a:latin typeface="Hero Bold"/>
                <a:ea typeface="Hero Bold"/>
                <a:cs typeface="Hero Bold"/>
                <a:sym typeface="Hero Bold"/>
              </a:rPr>
              <a:t>Menganalisis karakteristik statistik dasar dari data curah hujan harian di Kabupaten Lampung Selatan tahun 2024.</a:t>
            </a:r>
          </a:p>
          <a:p>
            <a:pPr algn="l" marL="500021" indent="-250010" lvl="1">
              <a:lnSpc>
                <a:spcPts val="2315"/>
              </a:lnSpc>
              <a:buFont typeface="Arial"/>
              <a:buChar char="•"/>
            </a:pPr>
            <a:r>
              <a:rPr lang="en-US" sz="2315">
                <a:solidFill>
                  <a:srgbClr val="313636"/>
                </a:solidFill>
                <a:latin typeface="Hero Bold"/>
                <a:ea typeface="Hero Bold"/>
                <a:cs typeface="Hero Bold"/>
                <a:sym typeface="Hero Bold"/>
              </a:rPr>
              <a:t>Menerapkan metode Inverse Transform untuk membangkitkan data curah hujan..</a:t>
            </a:r>
          </a:p>
          <a:p>
            <a:pPr algn="l" marL="500021" indent="-250010" lvl="1">
              <a:lnSpc>
                <a:spcPts val="2315"/>
              </a:lnSpc>
              <a:buFont typeface="Arial"/>
              <a:buChar char="•"/>
            </a:pPr>
            <a:r>
              <a:rPr lang="en-US" sz="2315">
                <a:solidFill>
                  <a:srgbClr val="313636"/>
                </a:solidFill>
                <a:latin typeface="Hero Bold"/>
                <a:ea typeface="Hero Bold"/>
                <a:cs typeface="Hero Bold"/>
                <a:sym typeface="Hero Bold"/>
              </a:rPr>
              <a:t>Membandingkan hasil pembangkitan data asli dengan data simulasi melalui statistik deskriptif, grafik, dan uji kesesuaian.</a:t>
            </a:r>
          </a:p>
          <a:p>
            <a:pPr algn="l" marL="500021" indent="-250010" lvl="1">
              <a:lnSpc>
                <a:spcPts val="2315"/>
              </a:lnSpc>
              <a:spcBef>
                <a:spcPct val="0"/>
              </a:spcBef>
              <a:buFont typeface="Arial"/>
              <a:buChar char="•"/>
            </a:pPr>
            <a:r>
              <a:rPr lang="en-US" sz="2315">
                <a:solidFill>
                  <a:srgbClr val="313636"/>
                </a:solidFill>
                <a:latin typeface="Hero Bold"/>
                <a:ea typeface="Hero Bold"/>
                <a:cs typeface="Hero Bold"/>
                <a:sym typeface="Hero Bold"/>
              </a:rPr>
              <a:t>Mengevaluasi efektivitas metode Inverse Transform sebagai pendekatan pembangkitan data curah hujan yang representatif bagi wilayah Lampung Selatan.</a:t>
            </a:r>
          </a:p>
          <a:p>
            <a:pPr algn="l" marL="0" indent="0" lvl="0">
              <a:lnSpc>
                <a:spcPts val="2315"/>
              </a:lnSpc>
              <a:spcBef>
                <a:spcPct val="0"/>
              </a:spcBef>
            </a:pPr>
          </a:p>
        </p:txBody>
      </p:sp>
      <p:sp>
        <p:nvSpPr>
          <p:cNvPr name="Freeform 6" id="6"/>
          <p:cNvSpPr/>
          <p:nvPr/>
        </p:nvSpPr>
        <p:spPr>
          <a:xfrm flipH="false" flipV="false" rot="-2368348">
            <a:off x="-832487" y="-534929"/>
            <a:ext cx="3722374" cy="2475379"/>
          </a:xfrm>
          <a:custGeom>
            <a:avLst/>
            <a:gdLst/>
            <a:ahLst/>
            <a:cxnLst/>
            <a:rect r="r" b="b" t="t" l="l"/>
            <a:pathLst>
              <a:path h="2475379" w="3722374">
                <a:moveTo>
                  <a:pt x="0" y="0"/>
                </a:moveTo>
                <a:lnTo>
                  <a:pt x="3722374" y="0"/>
                </a:lnTo>
                <a:lnTo>
                  <a:pt x="3722374" y="2475379"/>
                </a:lnTo>
                <a:lnTo>
                  <a:pt x="0" y="24753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7048873">
            <a:off x="15691057" y="7697999"/>
            <a:ext cx="3696920" cy="2823522"/>
          </a:xfrm>
          <a:custGeom>
            <a:avLst/>
            <a:gdLst/>
            <a:ahLst/>
            <a:cxnLst/>
            <a:rect r="r" b="b" t="t" l="l"/>
            <a:pathLst>
              <a:path h="2823522" w="3696920">
                <a:moveTo>
                  <a:pt x="0" y="0"/>
                </a:moveTo>
                <a:lnTo>
                  <a:pt x="3696920" y="0"/>
                </a:lnTo>
                <a:lnTo>
                  <a:pt x="3696920" y="2823522"/>
                </a:lnTo>
                <a:lnTo>
                  <a:pt x="0" y="2823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7158265">
            <a:off x="15814505" y="684745"/>
            <a:ext cx="3057776" cy="1024355"/>
          </a:xfrm>
          <a:custGeom>
            <a:avLst/>
            <a:gdLst/>
            <a:ahLst/>
            <a:cxnLst/>
            <a:rect r="r" b="b" t="t" l="l"/>
            <a:pathLst>
              <a:path h="1024355" w="3057776">
                <a:moveTo>
                  <a:pt x="0" y="0"/>
                </a:moveTo>
                <a:lnTo>
                  <a:pt x="3057776" y="0"/>
                </a:lnTo>
                <a:lnTo>
                  <a:pt x="3057776" y="1024355"/>
                </a:lnTo>
                <a:lnTo>
                  <a:pt x="0" y="10243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712541" y="8577958"/>
            <a:ext cx="3207390" cy="1888351"/>
          </a:xfrm>
          <a:custGeom>
            <a:avLst/>
            <a:gdLst/>
            <a:ahLst/>
            <a:cxnLst/>
            <a:rect r="r" b="b" t="t" l="l"/>
            <a:pathLst>
              <a:path h="1888351" w="3207390">
                <a:moveTo>
                  <a:pt x="0" y="0"/>
                </a:moveTo>
                <a:lnTo>
                  <a:pt x="3207390" y="0"/>
                </a:lnTo>
                <a:lnTo>
                  <a:pt x="3207390" y="1888351"/>
                </a:lnTo>
                <a:lnTo>
                  <a:pt x="0" y="18883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5400000">
            <a:off x="962967" y="6404540"/>
            <a:ext cx="2556712" cy="827735"/>
          </a:xfrm>
          <a:custGeom>
            <a:avLst/>
            <a:gdLst/>
            <a:ahLst/>
            <a:cxnLst/>
            <a:rect r="r" b="b" t="t" l="l"/>
            <a:pathLst>
              <a:path h="827735" w="2556712">
                <a:moveTo>
                  <a:pt x="0" y="0"/>
                </a:moveTo>
                <a:lnTo>
                  <a:pt x="2556712" y="0"/>
                </a:lnTo>
                <a:lnTo>
                  <a:pt x="2556712" y="827736"/>
                </a:lnTo>
                <a:lnTo>
                  <a:pt x="0" y="8277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2607241">
            <a:off x="2049569" y="514502"/>
            <a:ext cx="890560" cy="1364843"/>
          </a:xfrm>
          <a:custGeom>
            <a:avLst/>
            <a:gdLst/>
            <a:ahLst/>
            <a:cxnLst/>
            <a:rect r="r" b="b" t="t" l="l"/>
            <a:pathLst>
              <a:path h="1364843" w="890560">
                <a:moveTo>
                  <a:pt x="0" y="0"/>
                </a:moveTo>
                <a:lnTo>
                  <a:pt x="890560" y="0"/>
                </a:lnTo>
                <a:lnTo>
                  <a:pt x="890560" y="1364842"/>
                </a:lnTo>
                <a:lnTo>
                  <a:pt x="0" y="13648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2494849" y="5729794"/>
            <a:ext cx="7915665" cy="442797"/>
          </a:xfrm>
          <a:prstGeom prst="rect">
            <a:avLst/>
          </a:prstGeom>
        </p:spPr>
        <p:txBody>
          <a:bodyPr anchor="t" rtlCol="false" tIns="0" lIns="0" bIns="0" rIns="0">
            <a:spAutoFit/>
          </a:bodyPr>
          <a:lstStyle/>
          <a:p>
            <a:pPr algn="ctr">
              <a:lnSpc>
                <a:spcPts val="3372"/>
              </a:lnSpc>
            </a:pPr>
            <a:r>
              <a:rPr lang="en-US" sz="3122">
                <a:solidFill>
                  <a:srgbClr val="545286"/>
                </a:solidFill>
                <a:latin typeface="Hero Bold"/>
                <a:ea typeface="Hero Bold"/>
                <a:cs typeface="Hero Bold"/>
                <a:sym typeface="Hero Bold"/>
              </a:rPr>
              <a:t>MANFAAT PENELITIAN</a:t>
            </a:r>
          </a:p>
        </p:txBody>
      </p:sp>
      <p:sp>
        <p:nvSpPr>
          <p:cNvPr name="TextBox 13" id="13"/>
          <p:cNvSpPr txBox="true"/>
          <p:nvPr/>
        </p:nvSpPr>
        <p:spPr>
          <a:xfrm rot="0">
            <a:off x="3959007" y="6210691"/>
            <a:ext cx="10207018" cy="2732995"/>
          </a:xfrm>
          <a:prstGeom prst="rect">
            <a:avLst/>
          </a:prstGeom>
        </p:spPr>
        <p:txBody>
          <a:bodyPr anchor="t" rtlCol="false" tIns="0" lIns="0" bIns="0" rIns="0">
            <a:spAutoFit/>
          </a:bodyPr>
          <a:lstStyle/>
          <a:p>
            <a:pPr algn="just" marL="516590" indent="-258295" lvl="1">
              <a:lnSpc>
                <a:spcPts val="2392"/>
              </a:lnSpc>
              <a:buFont typeface="Arial"/>
              <a:buChar char="•"/>
            </a:pPr>
            <a:r>
              <a:rPr lang="en-US" sz="2392">
                <a:solidFill>
                  <a:srgbClr val="313636"/>
                </a:solidFill>
                <a:latin typeface="Hero Bold"/>
                <a:ea typeface="Hero Bold"/>
                <a:cs typeface="Hero Bold"/>
                <a:sym typeface="Hero Bold"/>
              </a:rPr>
              <a:t>Menjadi referensi dalam studi tentang penerapan metode Inverse Transform untuk pemodelan variabel hidrometeorologi.</a:t>
            </a:r>
          </a:p>
          <a:p>
            <a:pPr algn="just" marL="516590" indent="-258295" lvl="1">
              <a:lnSpc>
                <a:spcPts val="2392"/>
              </a:lnSpc>
              <a:buFont typeface="Arial"/>
              <a:buChar char="•"/>
            </a:pPr>
            <a:r>
              <a:rPr lang="en-US" sz="2392">
                <a:solidFill>
                  <a:srgbClr val="313636"/>
                </a:solidFill>
                <a:latin typeface="Hero Bold"/>
                <a:ea typeface="Hero Bold"/>
                <a:cs typeface="Hero Bold"/>
                <a:sym typeface="Hero Bold"/>
              </a:rPr>
              <a:t>Memberikan kontribusi pada penelitian statistika terapan, khususnya dalam pembangkitan data iklim menggunakan distribusi probabilitas.</a:t>
            </a:r>
          </a:p>
          <a:p>
            <a:pPr algn="just" marL="516590" indent="-258295" lvl="1">
              <a:lnSpc>
                <a:spcPts val="2392"/>
              </a:lnSpc>
              <a:buFont typeface="Arial"/>
              <a:buChar char="•"/>
            </a:pPr>
            <a:r>
              <a:rPr lang="en-US" sz="2392">
                <a:solidFill>
                  <a:srgbClr val="313636"/>
                </a:solidFill>
                <a:latin typeface="Hero Bold"/>
                <a:ea typeface="Hero Bold"/>
                <a:cs typeface="Hero Bold"/>
                <a:sym typeface="Hero Bold"/>
              </a:rPr>
              <a:t>Menjadi contoh penerapan metode probabilistik pada kasus nyata, sehingga dapat digunakan sebagai bahan pembelajaran bagi mahasiswa dan peneliti lain.</a:t>
            </a:r>
          </a:p>
          <a:p>
            <a:pPr algn="just">
              <a:lnSpc>
                <a:spcPts val="2392"/>
              </a:lnSpc>
              <a:spcBef>
                <a:spcPct val="0"/>
              </a:spcBef>
            </a:pPr>
          </a:p>
        </p:txBody>
      </p:sp>
      <p:sp>
        <p:nvSpPr>
          <p:cNvPr name="Freeform 14" id="14"/>
          <p:cNvSpPr/>
          <p:nvPr/>
        </p:nvSpPr>
        <p:spPr>
          <a:xfrm flipH="false" flipV="false" rot="0">
            <a:off x="5880606" y="768540"/>
            <a:ext cx="6227957" cy="1230022"/>
          </a:xfrm>
          <a:custGeom>
            <a:avLst/>
            <a:gdLst/>
            <a:ahLst/>
            <a:cxnLst/>
            <a:rect r="r" b="b" t="t" l="l"/>
            <a:pathLst>
              <a:path h="1230022" w="6227957">
                <a:moveTo>
                  <a:pt x="0" y="0"/>
                </a:moveTo>
                <a:lnTo>
                  <a:pt x="6227957" y="0"/>
                </a:lnTo>
                <a:lnTo>
                  <a:pt x="6227957" y="1230022"/>
                </a:lnTo>
                <a:lnTo>
                  <a:pt x="0" y="123002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TextBox 15" id="15"/>
          <p:cNvSpPr txBox="true"/>
          <p:nvPr/>
        </p:nvSpPr>
        <p:spPr>
          <a:xfrm rot="0">
            <a:off x="6009657" y="857250"/>
            <a:ext cx="5874510" cy="930977"/>
          </a:xfrm>
          <a:prstGeom prst="rect">
            <a:avLst/>
          </a:prstGeom>
        </p:spPr>
        <p:txBody>
          <a:bodyPr anchor="t" rtlCol="false" tIns="0" lIns="0" bIns="0" rIns="0">
            <a:spAutoFit/>
          </a:bodyPr>
          <a:lstStyle/>
          <a:p>
            <a:pPr algn="ctr">
              <a:lnSpc>
                <a:spcPts val="2733"/>
              </a:lnSpc>
            </a:pPr>
            <a:r>
              <a:rPr lang="en-US" b="true" sz="2733">
                <a:solidFill>
                  <a:srgbClr val="FFFFFF"/>
                </a:solidFill>
                <a:latin typeface="Biski Bold"/>
                <a:ea typeface="Biski Bold"/>
                <a:cs typeface="Biski Bold"/>
                <a:sym typeface="Biski Bold"/>
              </a:rPr>
              <a:t>TUJUAN PENELITIAN &amp; MANFAAT PENELITIAN</a:t>
            </a:r>
          </a:p>
        </p:txBody>
      </p:sp>
    </p:spTree>
  </p:cSld>
  <p:clrMapOvr>
    <a:masterClrMapping/>
  </p:clrMapOvr>
  <p:transition spd="slow">
    <p:push di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27319" y="1776276"/>
            <a:ext cx="13821125" cy="8690032"/>
          </a:xfrm>
          <a:custGeom>
            <a:avLst/>
            <a:gdLst/>
            <a:ahLst/>
            <a:cxnLst/>
            <a:rect r="r" b="b" t="t" l="l"/>
            <a:pathLst>
              <a:path h="8690032" w="13821125">
                <a:moveTo>
                  <a:pt x="0" y="0"/>
                </a:moveTo>
                <a:lnTo>
                  <a:pt x="13821125" y="0"/>
                </a:lnTo>
                <a:lnTo>
                  <a:pt x="13821125" y="8690033"/>
                </a:lnTo>
                <a:lnTo>
                  <a:pt x="0" y="86900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2368348">
            <a:off x="-832487" y="-534929"/>
            <a:ext cx="3722374" cy="2475379"/>
          </a:xfrm>
          <a:custGeom>
            <a:avLst/>
            <a:gdLst/>
            <a:ahLst/>
            <a:cxnLst/>
            <a:rect r="r" b="b" t="t" l="l"/>
            <a:pathLst>
              <a:path h="2475379" w="3722374">
                <a:moveTo>
                  <a:pt x="0" y="0"/>
                </a:moveTo>
                <a:lnTo>
                  <a:pt x="3722374" y="0"/>
                </a:lnTo>
                <a:lnTo>
                  <a:pt x="3722374" y="2475379"/>
                </a:lnTo>
                <a:lnTo>
                  <a:pt x="0" y="24753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7048873">
            <a:off x="15691057" y="7697999"/>
            <a:ext cx="3696920" cy="2823522"/>
          </a:xfrm>
          <a:custGeom>
            <a:avLst/>
            <a:gdLst/>
            <a:ahLst/>
            <a:cxnLst/>
            <a:rect r="r" b="b" t="t" l="l"/>
            <a:pathLst>
              <a:path h="2823522" w="3696920">
                <a:moveTo>
                  <a:pt x="0" y="0"/>
                </a:moveTo>
                <a:lnTo>
                  <a:pt x="3696920" y="0"/>
                </a:lnTo>
                <a:lnTo>
                  <a:pt x="3696920" y="2823522"/>
                </a:lnTo>
                <a:lnTo>
                  <a:pt x="0" y="2823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7158265">
            <a:off x="15814505" y="684745"/>
            <a:ext cx="3057776" cy="1024355"/>
          </a:xfrm>
          <a:custGeom>
            <a:avLst/>
            <a:gdLst/>
            <a:ahLst/>
            <a:cxnLst/>
            <a:rect r="r" b="b" t="t" l="l"/>
            <a:pathLst>
              <a:path h="1024355" w="3057776">
                <a:moveTo>
                  <a:pt x="0" y="0"/>
                </a:moveTo>
                <a:lnTo>
                  <a:pt x="3057776" y="0"/>
                </a:lnTo>
                <a:lnTo>
                  <a:pt x="3057776" y="1024355"/>
                </a:lnTo>
                <a:lnTo>
                  <a:pt x="0" y="10243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712541" y="8577958"/>
            <a:ext cx="3207390" cy="1888351"/>
          </a:xfrm>
          <a:custGeom>
            <a:avLst/>
            <a:gdLst/>
            <a:ahLst/>
            <a:cxnLst/>
            <a:rect r="r" b="b" t="t" l="l"/>
            <a:pathLst>
              <a:path h="1888351" w="3207390">
                <a:moveTo>
                  <a:pt x="0" y="0"/>
                </a:moveTo>
                <a:lnTo>
                  <a:pt x="3207390" y="0"/>
                </a:lnTo>
                <a:lnTo>
                  <a:pt x="3207390" y="1888351"/>
                </a:lnTo>
                <a:lnTo>
                  <a:pt x="0" y="18883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5400000">
            <a:off x="962967" y="6404540"/>
            <a:ext cx="2556712" cy="827735"/>
          </a:xfrm>
          <a:custGeom>
            <a:avLst/>
            <a:gdLst/>
            <a:ahLst/>
            <a:cxnLst/>
            <a:rect r="r" b="b" t="t" l="l"/>
            <a:pathLst>
              <a:path h="827735" w="2556712">
                <a:moveTo>
                  <a:pt x="0" y="0"/>
                </a:moveTo>
                <a:lnTo>
                  <a:pt x="2556712" y="0"/>
                </a:lnTo>
                <a:lnTo>
                  <a:pt x="2556712" y="827736"/>
                </a:lnTo>
                <a:lnTo>
                  <a:pt x="0" y="8277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2607241">
            <a:off x="2049569" y="514502"/>
            <a:ext cx="890560" cy="1364843"/>
          </a:xfrm>
          <a:custGeom>
            <a:avLst/>
            <a:gdLst/>
            <a:ahLst/>
            <a:cxnLst/>
            <a:rect r="r" b="b" t="t" l="l"/>
            <a:pathLst>
              <a:path h="1364843" w="890560">
                <a:moveTo>
                  <a:pt x="0" y="0"/>
                </a:moveTo>
                <a:lnTo>
                  <a:pt x="890560" y="0"/>
                </a:lnTo>
                <a:lnTo>
                  <a:pt x="890560" y="1364842"/>
                </a:lnTo>
                <a:lnTo>
                  <a:pt x="0" y="13648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5880606" y="768540"/>
            <a:ext cx="6227957" cy="1230022"/>
          </a:xfrm>
          <a:custGeom>
            <a:avLst/>
            <a:gdLst/>
            <a:ahLst/>
            <a:cxnLst/>
            <a:rect r="r" b="b" t="t" l="l"/>
            <a:pathLst>
              <a:path h="1230022" w="6227957">
                <a:moveTo>
                  <a:pt x="0" y="0"/>
                </a:moveTo>
                <a:lnTo>
                  <a:pt x="6227957" y="0"/>
                </a:lnTo>
                <a:lnTo>
                  <a:pt x="6227957" y="1230022"/>
                </a:lnTo>
                <a:lnTo>
                  <a:pt x="0" y="123002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TextBox 11" id="11"/>
          <p:cNvSpPr txBox="true"/>
          <p:nvPr/>
        </p:nvSpPr>
        <p:spPr>
          <a:xfrm rot="0">
            <a:off x="6009657" y="1029771"/>
            <a:ext cx="5874510" cy="585935"/>
          </a:xfrm>
          <a:prstGeom prst="rect">
            <a:avLst/>
          </a:prstGeom>
        </p:spPr>
        <p:txBody>
          <a:bodyPr anchor="t" rtlCol="false" tIns="0" lIns="0" bIns="0" rIns="0">
            <a:spAutoFit/>
          </a:bodyPr>
          <a:lstStyle/>
          <a:p>
            <a:pPr algn="ctr">
              <a:lnSpc>
                <a:spcPts val="2733"/>
              </a:lnSpc>
            </a:pPr>
            <a:r>
              <a:rPr lang="en-US" b="true" sz="2733">
                <a:solidFill>
                  <a:srgbClr val="FFFFFF"/>
                </a:solidFill>
                <a:latin typeface="Biski Bold"/>
                <a:ea typeface="Biski Bold"/>
                <a:cs typeface="Biski Bold"/>
                <a:sym typeface="Biski Bold"/>
              </a:rPr>
              <a:t>TINJAUAN PUSTAKA</a:t>
            </a:r>
          </a:p>
        </p:txBody>
      </p:sp>
      <p:sp>
        <p:nvSpPr>
          <p:cNvPr name="TextBox 12" id="12"/>
          <p:cNvSpPr txBox="true"/>
          <p:nvPr/>
        </p:nvSpPr>
        <p:spPr>
          <a:xfrm rot="0">
            <a:off x="2744785" y="2326881"/>
            <a:ext cx="12404254" cy="2816619"/>
          </a:xfrm>
          <a:prstGeom prst="rect">
            <a:avLst/>
          </a:prstGeom>
        </p:spPr>
        <p:txBody>
          <a:bodyPr anchor="t" rtlCol="false" tIns="0" lIns="0" bIns="0" rIns="0">
            <a:spAutoFit/>
          </a:bodyPr>
          <a:lstStyle/>
          <a:p>
            <a:pPr algn="just">
              <a:lnSpc>
                <a:spcPts val="3177"/>
              </a:lnSpc>
            </a:pPr>
            <a:r>
              <a:rPr lang="en-US" sz="2942">
                <a:solidFill>
                  <a:srgbClr val="000000"/>
                </a:solidFill>
                <a:latin typeface="Hero Bold"/>
                <a:ea typeface="Hero Bold"/>
                <a:cs typeface="Hero Bold"/>
                <a:sym typeface="Hero Bold"/>
              </a:rPr>
              <a:t>Curah hujan mem</a:t>
            </a:r>
            <a:r>
              <a:rPr lang="en-US" sz="2942">
                <a:solidFill>
                  <a:srgbClr val="000000"/>
                </a:solidFill>
                <a:latin typeface="Hero Bold"/>
                <a:ea typeface="Hero Bold"/>
                <a:cs typeface="Hero Bold"/>
                <a:sym typeface="Hero Bold"/>
              </a:rPr>
              <a:t>iliki karakteristik positif dan right-skewed sehingga lebih sesuai dimodelkan dengan distribusi Lognormal, Gamma, atau Gumbel. Untuk membangkitkan data sintetis, digunakan bilangan acak Uniform(0,1) dari PRNG yang kemudian diubah menjadi peubah acak sesuai distribusi menggunakan Inverse Transform Method, yaitu metode sederhana dan stabil yang efektif untuk distribusi seperti Lognormal dan Weibull.</a:t>
            </a:r>
          </a:p>
        </p:txBody>
      </p:sp>
      <p:sp>
        <p:nvSpPr>
          <p:cNvPr name="TextBox 13" id="13"/>
          <p:cNvSpPr txBox="true"/>
          <p:nvPr/>
        </p:nvSpPr>
        <p:spPr>
          <a:xfrm rot="0">
            <a:off x="1029048" y="7651624"/>
            <a:ext cx="8114952" cy="445140"/>
          </a:xfrm>
          <a:prstGeom prst="rect">
            <a:avLst/>
          </a:prstGeom>
        </p:spPr>
        <p:txBody>
          <a:bodyPr anchor="t" rtlCol="false" tIns="0" lIns="0" bIns="0" rIns="0">
            <a:spAutoFit/>
          </a:bodyPr>
          <a:lstStyle/>
          <a:p>
            <a:pPr algn="ctr">
              <a:lnSpc>
                <a:spcPts val="3456"/>
              </a:lnSpc>
            </a:pPr>
            <a:r>
              <a:rPr lang="en-US" sz="3200">
                <a:solidFill>
                  <a:srgbClr val="545286"/>
                </a:solidFill>
                <a:latin typeface="Hero Bold"/>
                <a:ea typeface="Hero Bold"/>
                <a:cs typeface="Hero Bold"/>
                <a:sym typeface="Hero Bold"/>
              </a:rPr>
              <a:t>pemilihan distribusi terbaik</a:t>
            </a:r>
          </a:p>
        </p:txBody>
      </p:sp>
      <p:sp>
        <p:nvSpPr>
          <p:cNvPr name="TextBox 14" id="14"/>
          <p:cNvSpPr txBox="true"/>
          <p:nvPr/>
        </p:nvSpPr>
        <p:spPr>
          <a:xfrm rot="0">
            <a:off x="2241323" y="8125339"/>
            <a:ext cx="12404254" cy="1216419"/>
          </a:xfrm>
          <a:prstGeom prst="rect">
            <a:avLst/>
          </a:prstGeom>
        </p:spPr>
        <p:txBody>
          <a:bodyPr anchor="t" rtlCol="false" tIns="0" lIns="0" bIns="0" rIns="0">
            <a:spAutoFit/>
          </a:bodyPr>
          <a:lstStyle/>
          <a:p>
            <a:pPr algn="just" marL="635295" indent="-317647" lvl="1">
              <a:lnSpc>
                <a:spcPts val="3177"/>
              </a:lnSpc>
              <a:buFont typeface="Arial"/>
              <a:buChar char="•"/>
            </a:pPr>
            <a:r>
              <a:rPr lang="en-US" sz="2942">
                <a:solidFill>
                  <a:srgbClr val="000000"/>
                </a:solidFill>
                <a:latin typeface="Hero Bold"/>
                <a:ea typeface="Hero Bold"/>
                <a:cs typeface="Hero Bold"/>
                <a:sym typeface="Hero Bold"/>
              </a:rPr>
              <a:t>Lognormal AIC = 378.3172 &amp; BIC = 395.0950</a:t>
            </a:r>
          </a:p>
          <a:p>
            <a:pPr algn="just" marL="635295" indent="-317647" lvl="1">
              <a:lnSpc>
                <a:spcPts val="3177"/>
              </a:lnSpc>
              <a:buFont typeface="Arial"/>
              <a:buChar char="•"/>
            </a:pPr>
            <a:r>
              <a:rPr lang="en-US" sz="2942">
                <a:solidFill>
                  <a:srgbClr val="000000"/>
                </a:solidFill>
                <a:latin typeface="Hero Bold"/>
                <a:ea typeface="Hero Bold"/>
                <a:cs typeface="Hero Bold"/>
                <a:sym typeface="Hero Bold"/>
              </a:rPr>
              <a:t>Weibull AIC = 397.9504 &amp; BIC=405.7281</a:t>
            </a:r>
          </a:p>
          <a:p>
            <a:pPr algn="just" marL="635295" indent="-317647" lvl="1">
              <a:lnSpc>
                <a:spcPts val="3177"/>
              </a:lnSpc>
              <a:buFont typeface="Arial"/>
              <a:buChar char="•"/>
            </a:pPr>
            <a:r>
              <a:rPr lang="en-US" sz="2942">
                <a:solidFill>
                  <a:srgbClr val="000000"/>
                </a:solidFill>
                <a:latin typeface="Hero Bold"/>
                <a:ea typeface="Hero Bold"/>
                <a:cs typeface="Hero Bold"/>
                <a:sym typeface="Hero Bold"/>
              </a:rPr>
              <a:t>Lognormal terpilih karena AIC &amp; BIC paling rendah </a:t>
            </a:r>
          </a:p>
        </p:txBody>
      </p:sp>
      <p:sp>
        <p:nvSpPr>
          <p:cNvPr name="TextBox 15" id="15"/>
          <p:cNvSpPr txBox="true"/>
          <p:nvPr/>
        </p:nvSpPr>
        <p:spPr>
          <a:xfrm rot="0">
            <a:off x="2649942" y="5559102"/>
            <a:ext cx="12689285" cy="1928389"/>
          </a:xfrm>
          <a:prstGeom prst="rect">
            <a:avLst/>
          </a:prstGeom>
        </p:spPr>
        <p:txBody>
          <a:bodyPr anchor="t" rtlCol="false" tIns="0" lIns="0" bIns="0" rIns="0">
            <a:spAutoFit/>
          </a:bodyPr>
          <a:lstStyle/>
          <a:p>
            <a:pPr algn="l">
              <a:lnSpc>
                <a:spcPts val="3007"/>
              </a:lnSpc>
              <a:spcBef>
                <a:spcPct val="0"/>
              </a:spcBef>
            </a:pPr>
            <a:r>
              <a:rPr lang="en-US" sz="2784">
                <a:solidFill>
                  <a:srgbClr val="000000"/>
                </a:solidFill>
                <a:latin typeface="Hero Bold"/>
                <a:ea typeface="Hero Bold"/>
                <a:cs typeface="Hero Bold"/>
                <a:sym typeface="Hero Bold"/>
              </a:rPr>
              <a:t>Metode Inverse Transform mengubah bilangan Uniform(0,1) menjadi nilai acak melalui invers CDF, sehingga sederhana dan cocok untuk distribusi yang skewed. Lognormal digunakan karena ln(X) berdistribusi Normal dan sesuai untuk curah hujan yang positif dan right-skewed. Weibull juga digunakan karena fleksibel dan umum dalam analisis hidrologi.</a:t>
            </a:r>
          </a:p>
        </p:txBody>
      </p:sp>
    </p:spTree>
  </p:cSld>
  <p:clrMapOvr>
    <a:masterClrMapping/>
  </p:clrMapOvr>
  <p:transition spd="slow">
    <p:push di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500536" y="1546566"/>
            <a:ext cx="13126457" cy="8253260"/>
          </a:xfrm>
          <a:custGeom>
            <a:avLst/>
            <a:gdLst/>
            <a:ahLst/>
            <a:cxnLst/>
            <a:rect r="r" b="b" t="t" l="l"/>
            <a:pathLst>
              <a:path h="8253260" w="13126457">
                <a:moveTo>
                  <a:pt x="0" y="0"/>
                </a:moveTo>
                <a:lnTo>
                  <a:pt x="13126456" y="0"/>
                </a:lnTo>
                <a:lnTo>
                  <a:pt x="13126456" y="8253259"/>
                </a:lnTo>
                <a:lnTo>
                  <a:pt x="0" y="82532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2368348">
            <a:off x="-832487" y="-534929"/>
            <a:ext cx="3722374" cy="2475379"/>
          </a:xfrm>
          <a:custGeom>
            <a:avLst/>
            <a:gdLst/>
            <a:ahLst/>
            <a:cxnLst/>
            <a:rect r="r" b="b" t="t" l="l"/>
            <a:pathLst>
              <a:path h="2475379" w="3722374">
                <a:moveTo>
                  <a:pt x="0" y="0"/>
                </a:moveTo>
                <a:lnTo>
                  <a:pt x="3722374" y="0"/>
                </a:lnTo>
                <a:lnTo>
                  <a:pt x="3722374" y="2475379"/>
                </a:lnTo>
                <a:lnTo>
                  <a:pt x="0" y="24753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7048873">
            <a:off x="15691057" y="7697999"/>
            <a:ext cx="3696920" cy="2823522"/>
          </a:xfrm>
          <a:custGeom>
            <a:avLst/>
            <a:gdLst/>
            <a:ahLst/>
            <a:cxnLst/>
            <a:rect r="r" b="b" t="t" l="l"/>
            <a:pathLst>
              <a:path h="2823522" w="3696920">
                <a:moveTo>
                  <a:pt x="0" y="0"/>
                </a:moveTo>
                <a:lnTo>
                  <a:pt x="3696920" y="0"/>
                </a:lnTo>
                <a:lnTo>
                  <a:pt x="3696920" y="2823522"/>
                </a:lnTo>
                <a:lnTo>
                  <a:pt x="0" y="2823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7158265">
            <a:off x="15814505" y="684745"/>
            <a:ext cx="3057776" cy="1024355"/>
          </a:xfrm>
          <a:custGeom>
            <a:avLst/>
            <a:gdLst/>
            <a:ahLst/>
            <a:cxnLst/>
            <a:rect r="r" b="b" t="t" l="l"/>
            <a:pathLst>
              <a:path h="1024355" w="3057776">
                <a:moveTo>
                  <a:pt x="0" y="0"/>
                </a:moveTo>
                <a:lnTo>
                  <a:pt x="3057776" y="0"/>
                </a:lnTo>
                <a:lnTo>
                  <a:pt x="3057776" y="1024355"/>
                </a:lnTo>
                <a:lnTo>
                  <a:pt x="0" y="10243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712541" y="8577958"/>
            <a:ext cx="3207390" cy="1888351"/>
          </a:xfrm>
          <a:custGeom>
            <a:avLst/>
            <a:gdLst/>
            <a:ahLst/>
            <a:cxnLst/>
            <a:rect r="r" b="b" t="t" l="l"/>
            <a:pathLst>
              <a:path h="1888351" w="3207390">
                <a:moveTo>
                  <a:pt x="0" y="0"/>
                </a:moveTo>
                <a:lnTo>
                  <a:pt x="3207390" y="0"/>
                </a:lnTo>
                <a:lnTo>
                  <a:pt x="3207390" y="1888351"/>
                </a:lnTo>
                <a:lnTo>
                  <a:pt x="0" y="18883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5400000">
            <a:off x="164212" y="6381011"/>
            <a:ext cx="2556712" cy="827735"/>
          </a:xfrm>
          <a:custGeom>
            <a:avLst/>
            <a:gdLst/>
            <a:ahLst/>
            <a:cxnLst/>
            <a:rect r="r" b="b" t="t" l="l"/>
            <a:pathLst>
              <a:path h="827735" w="2556712">
                <a:moveTo>
                  <a:pt x="0" y="0"/>
                </a:moveTo>
                <a:lnTo>
                  <a:pt x="2556711" y="0"/>
                </a:lnTo>
                <a:lnTo>
                  <a:pt x="2556711" y="827735"/>
                </a:lnTo>
                <a:lnTo>
                  <a:pt x="0" y="82773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2607241">
            <a:off x="2049569" y="514502"/>
            <a:ext cx="890560" cy="1364843"/>
          </a:xfrm>
          <a:custGeom>
            <a:avLst/>
            <a:gdLst/>
            <a:ahLst/>
            <a:cxnLst/>
            <a:rect r="r" b="b" t="t" l="l"/>
            <a:pathLst>
              <a:path h="1364843" w="890560">
                <a:moveTo>
                  <a:pt x="0" y="0"/>
                </a:moveTo>
                <a:lnTo>
                  <a:pt x="890560" y="0"/>
                </a:lnTo>
                <a:lnTo>
                  <a:pt x="890560" y="1364842"/>
                </a:lnTo>
                <a:lnTo>
                  <a:pt x="0" y="136484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5880606" y="768540"/>
            <a:ext cx="6227957" cy="1230022"/>
          </a:xfrm>
          <a:custGeom>
            <a:avLst/>
            <a:gdLst/>
            <a:ahLst/>
            <a:cxnLst/>
            <a:rect r="r" b="b" t="t" l="l"/>
            <a:pathLst>
              <a:path h="1230022" w="6227957">
                <a:moveTo>
                  <a:pt x="0" y="0"/>
                </a:moveTo>
                <a:lnTo>
                  <a:pt x="6227957" y="0"/>
                </a:lnTo>
                <a:lnTo>
                  <a:pt x="6227957" y="1230022"/>
                </a:lnTo>
                <a:lnTo>
                  <a:pt x="0" y="123002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graphicFrame>
        <p:nvGraphicFramePr>
          <p:cNvPr name="Table 11" id="11"/>
          <p:cNvGraphicFramePr>
            <a:graphicFrameLocks noGrp="true"/>
          </p:cNvGraphicFramePr>
          <p:nvPr/>
        </p:nvGraphicFramePr>
        <p:xfrm>
          <a:off x="3058235" y="5516523"/>
          <a:ext cx="7390241" cy="3593237"/>
        </p:xfrm>
        <a:graphic>
          <a:graphicData uri="http://schemas.openxmlformats.org/drawingml/2006/table">
            <a:tbl>
              <a:tblPr/>
              <a:tblGrid>
                <a:gridCol w="1573529"/>
                <a:gridCol w="2572943"/>
                <a:gridCol w="3243769"/>
              </a:tblGrid>
              <a:tr h="760539">
                <a:tc>
                  <a:txBody>
                    <a:bodyPr anchor="t" rtlCol="false"/>
                    <a:lstStyle/>
                    <a:p>
                      <a:pPr algn="ctr">
                        <a:lnSpc>
                          <a:spcPts val="2564"/>
                        </a:lnSpc>
                        <a:defRPr/>
                      </a:pPr>
                      <a:r>
                        <a:rPr lang="en-US" sz="1832">
                          <a:solidFill>
                            <a:srgbClr val="000000"/>
                          </a:solidFill>
                          <a:latin typeface="Hero Bold"/>
                          <a:ea typeface="Hero Bold"/>
                          <a:cs typeface="Hero Bold"/>
                          <a:sym typeface="Hero Bold"/>
                        </a:rPr>
                        <a:t>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Bold"/>
                          <a:ea typeface="Hero Bold"/>
                          <a:cs typeface="Hero Bold"/>
                          <a:sym typeface="Hero Bold"/>
                        </a:rPr>
                        <a:t>Variabel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Bold"/>
                          <a:ea typeface="Hero Bold"/>
                          <a:cs typeface="Hero Bold"/>
                          <a:sym typeface="Hero Bold"/>
                        </a:rPr>
                        <a:t>Jenis Variabel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5181">
                <a:tc>
                  <a:txBody>
                    <a:bodyPr anchor="t" rtlCol="false"/>
                    <a:lstStyle/>
                    <a:p>
                      <a:pPr algn="ctr">
                        <a:lnSpc>
                          <a:spcPts val="2564"/>
                        </a:lnSpc>
                        <a:defRPr/>
                      </a:pPr>
                      <a:r>
                        <a:rPr lang="en-US" sz="1832">
                          <a:solidFill>
                            <a:srgbClr val="000000"/>
                          </a:solidFill>
                          <a:latin typeface="Hero"/>
                          <a:ea typeface="Hero"/>
                          <a:cs typeface="Hero"/>
                          <a:sym typeface="Hero"/>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a:ea typeface="Hero"/>
                          <a:cs typeface="Hero"/>
                          <a:sym typeface="Hero"/>
                        </a:rPr>
                        <a:t>Kualitatif (Tanggal/Waktu)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a:ea typeface="Hero"/>
                          <a:cs typeface="Hero"/>
                          <a:sym typeface="Hero"/>
                        </a:rPr>
                        <a:t>Menunjukkan tanggal terjadinya pengamatan curah hujan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7518">
                <a:tc>
                  <a:txBody>
                    <a:bodyPr anchor="t" rtlCol="false"/>
                    <a:lstStyle/>
                    <a:p>
                      <a:pPr algn="ctr">
                        <a:lnSpc>
                          <a:spcPts val="2564"/>
                        </a:lnSpc>
                        <a:defRPr/>
                      </a:pPr>
                      <a:r>
                        <a:rPr lang="en-US" sz="1832">
                          <a:solidFill>
                            <a:srgbClr val="000000"/>
                          </a:solidFill>
                          <a:latin typeface="Hero"/>
                          <a:ea typeface="Hero"/>
                          <a:cs typeface="Hero"/>
                          <a:sym typeface="Hero"/>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a:ea typeface="Hero"/>
                          <a:cs typeface="Hero"/>
                          <a:sym typeface="Hero"/>
                        </a:rPr>
                        <a:t>Kuantitatif (Numerik)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64"/>
                        </a:lnSpc>
                        <a:defRPr/>
                      </a:pPr>
                      <a:r>
                        <a:rPr lang="en-US" sz="1832">
                          <a:solidFill>
                            <a:srgbClr val="000000"/>
                          </a:solidFill>
                          <a:latin typeface="Hero"/>
                          <a:ea typeface="Hero"/>
                          <a:cs typeface="Hero"/>
                          <a:sym typeface="Hero"/>
                        </a:rPr>
                        <a:t>Jumlah curah hujan harian dalam milimeter (mm)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2" id="12"/>
          <p:cNvSpPr/>
          <p:nvPr/>
        </p:nvSpPr>
        <p:spPr>
          <a:xfrm flipH="false" flipV="false" rot="0">
            <a:off x="11010452" y="4544517"/>
            <a:ext cx="3363863" cy="4565243"/>
          </a:xfrm>
          <a:custGeom>
            <a:avLst/>
            <a:gdLst/>
            <a:ahLst/>
            <a:cxnLst/>
            <a:rect r="r" b="b" t="t" l="l"/>
            <a:pathLst>
              <a:path h="4565243" w="3363863">
                <a:moveTo>
                  <a:pt x="0" y="0"/>
                </a:moveTo>
                <a:lnTo>
                  <a:pt x="3363863" y="0"/>
                </a:lnTo>
                <a:lnTo>
                  <a:pt x="3363863" y="4565243"/>
                </a:lnTo>
                <a:lnTo>
                  <a:pt x="0" y="4565243"/>
                </a:lnTo>
                <a:lnTo>
                  <a:pt x="0" y="0"/>
                </a:lnTo>
                <a:close/>
              </a:path>
            </a:pathLst>
          </a:custGeom>
          <a:blipFill>
            <a:blip r:embed="rId19"/>
            <a:stretch>
              <a:fillRect l="0" t="0" r="0" b="0"/>
            </a:stretch>
          </a:blipFill>
        </p:spPr>
      </p:sp>
      <p:sp>
        <p:nvSpPr>
          <p:cNvPr name="TextBox 13" id="13"/>
          <p:cNvSpPr txBox="true"/>
          <p:nvPr/>
        </p:nvSpPr>
        <p:spPr>
          <a:xfrm rot="0">
            <a:off x="530056" y="2168687"/>
            <a:ext cx="9485707" cy="526767"/>
          </a:xfrm>
          <a:prstGeom prst="rect">
            <a:avLst/>
          </a:prstGeom>
        </p:spPr>
        <p:txBody>
          <a:bodyPr anchor="t" rtlCol="false" tIns="0" lIns="0" bIns="0" rIns="0">
            <a:spAutoFit/>
          </a:bodyPr>
          <a:lstStyle/>
          <a:p>
            <a:pPr algn="ctr">
              <a:lnSpc>
                <a:spcPts val="4040"/>
              </a:lnSpc>
            </a:pPr>
            <a:r>
              <a:rPr lang="en-US" sz="3741">
                <a:solidFill>
                  <a:srgbClr val="545286"/>
                </a:solidFill>
                <a:latin typeface="Hero Bold"/>
                <a:ea typeface="Hero Bold"/>
                <a:cs typeface="Hero Bold"/>
                <a:sym typeface="Hero Bold"/>
              </a:rPr>
              <a:t>METODE PENELITIAN</a:t>
            </a:r>
          </a:p>
        </p:txBody>
      </p:sp>
      <p:sp>
        <p:nvSpPr>
          <p:cNvPr name="TextBox 14" id="14"/>
          <p:cNvSpPr txBox="true"/>
          <p:nvPr/>
        </p:nvSpPr>
        <p:spPr>
          <a:xfrm rot="0">
            <a:off x="6254539" y="866775"/>
            <a:ext cx="5442372" cy="865580"/>
          </a:xfrm>
          <a:prstGeom prst="rect">
            <a:avLst/>
          </a:prstGeom>
        </p:spPr>
        <p:txBody>
          <a:bodyPr anchor="t" rtlCol="false" tIns="0" lIns="0" bIns="0" rIns="0">
            <a:spAutoFit/>
          </a:bodyPr>
          <a:lstStyle/>
          <a:p>
            <a:pPr algn="ctr">
              <a:lnSpc>
                <a:spcPts val="2532"/>
              </a:lnSpc>
            </a:pPr>
            <a:r>
              <a:rPr lang="en-US" b="true" sz="2532">
                <a:solidFill>
                  <a:srgbClr val="FFFFFF"/>
                </a:solidFill>
                <a:latin typeface="Biski Bold"/>
                <a:ea typeface="Biski Bold"/>
                <a:cs typeface="Biski Bold"/>
                <a:sym typeface="Biski Bold"/>
              </a:rPr>
              <a:t>METODE PENELITIAN &amp; DIAGRAM ALIR</a:t>
            </a:r>
          </a:p>
        </p:txBody>
      </p:sp>
      <p:sp>
        <p:nvSpPr>
          <p:cNvPr name="TextBox 15" id="15"/>
          <p:cNvSpPr txBox="true"/>
          <p:nvPr/>
        </p:nvSpPr>
        <p:spPr>
          <a:xfrm rot="0">
            <a:off x="3058235" y="2724029"/>
            <a:ext cx="10928721" cy="1125163"/>
          </a:xfrm>
          <a:prstGeom prst="rect">
            <a:avLst/>
          </a:prstGeom>
        </p:spPr>
        <p:txBody>
          <a:bodyPr anchor="t" rtlCol="false" tIns="0" lIns="0" bIns="0" rIns="0">
            <a:spAutoFit/>
          </a:bodyPr>
          <a:lstStyle/>
          <a:p>
            <a:pPr algn="just">
              <a:lnSpc>
                <a:spcPts val="1832"/>
              </a:lnSpc>
              <a:spcBef>
                <a:spcPct val="0"/>
              </a:spcBef>
            </a:pPr>
            <a:r>
              <a:rPr lang="en-US" sz="1832">
                <a:solidFill>
                  <a:srgbClr val="313636"/>
                </a:solidFill>
                <a:latin typeface="Hero Bold"/>
                <a:ea typeface="Hero Bold"/>
                <a:cs typeface="Hero Bold"/>
                <a:sym typeface="Hero Bold"/>
              </a:rPr>
              <a:t>Penelitian ini memanfaatkan data sekunder, yaitu data yang sudah tersedia dan dipublikasikan oleh BMKG. Data yang digunakan berupa catatan curah hujan harian di wilayah Lampung Selatan selama tahun 2024, yang diperoleh dalam bentuk file .csv. Di dalamnya terdapat informasi mengenai tanggal pengamatan serta jumlah curah hujan harian (dalam milimeter) dari beberapa stasiun cuaca.</a:t>
            </a:r>
          </a:p>
        </p:txBody>
      </p:sp>
      <p:sp>
        <p:nvSpPr>
          <p:cNvPr name="TextBox 16" id="16"/>
          <p:cNvSpPr txBox="true"/>
          <p:nvPr/>
        </p:nvSpPr>
        <p:spPr>
          <a:xfrm rot="0">
            <a:off x="3058235" y="3982542"/>
            <a:ext cx="4429348" cy="1160958"/>
          </a:xfrm>
          <a:prstGeom prst="rect">
            <a:avLst/>
          </a:prstGeom>
        </p:spPr>
        <p:txBody>
          <a:bodyPr anchor="t" rtlCol="false" tIns="0" lIns="0" bIns="0" rIns="0">
            <a:spAutoFit/>
          </a:bodyPr>
          <a:lstStyle/>
          <a:p>
            <a:pPr algn="just">
              <a:lnSpc>
                <a:spcPts val="1832"/>
              </a:lnSpc>
            </a:pPr>
            <a:r>
              <a:rPr lang="en-US" sz="1832">
                <a:solidFill>
                  <a:srgbClr val="313636"/>
                </a:solidFill>
                <a:latin typeface="Hero Bold"/>
                <a:ea typeface="Hero Bold"/>
                <a:cs typeface="Hero Bold"/>
                <a:sym typeface="Hero Bold"/>
              </a:rPr>
              <a:t>Teknik Pengumpulan Data:</a:t>
            </a:r>
          </a:p>
          <a:p>
            <a:pPr algn="just" marL="395531" indent="-197765" lvl="1">
              <a:lnSpc>
                <a:spcPts val="1832"/>
              </a:lnSpc>
              <a:buFont typeface="Arial"/>
              <a:buChar char="•"/>
            </a:pPr>
            <a:r>
              <a:rPr lang="en-US" sz="1832">
                <a:solidFill>
                  <a:srgbClr val="313636"/>
                </a:solidFill>
                <a:latin typeface="Hero Bold"/>
                <a:ea typeface="Hero Bold"/>
                <a:cs typeface="Hero Bold"/>
                <a:sym typeface="Hero Bold"/>
              </a:rPr>
              <a:t>Mengunduh Data</a:t>
            </a:r>
          </a:p>
          <a:p>
            <a:pPr algn="just" marL="395531" indent="-197765" lvl="1">
              <a:lnSpc>
                <a:spcPts val="1832"/>
              </a:lnSpc>
              <a:buFont typeface="Arial"/>
              <a:buChar char="•"/>
            </a:pPr>
            <a:r>
              <a:rPr lang="en-US" sz="1832">
                <a:solidFill>
                  <a:srgbClr val="313636"/>
                </a:solidFill>
                <a:latin typeface="Hero Bold"/>
                <a:ea typeface="Hero Bold"/>
                <a:cs typeface="Hero Bold"/>
                <a:sym typeface="Hero Bold"/>
              </a:rPr>
              <a:t>Mengimpor Data ke R</a:t>
            </a:r>
          </a:p>
          <a:p>
            <a:pPr algn="just" marL="395531" indent="-197765" lvl="1">
              <a:lnSpc>
                <a:spcPts val="1832"/>
              </a:lnSpc>
              <a:buFont typeface="Arial"/>
              <a:buChar char="•"/>
            </a:pPr>
            <a:r>
              <a:rPr lang="en-US" sz="1832">
                <a:solidFill>
                  <a:srgbClr val="313636"/>
                </a:solidFill>
                <a:latin typeface="Hero Bold"/>
                <a:ea typeface="Hero Bold"/>
                <a:cs typeface="Hero Bold"/>
                <a:sym typeface="Hero Bold"/>
              </a:rPr>
              <a:t>Pembersihan (Cleaning) Data</a:t>
            </a:r>
          </a:p>
          <a:p>
            <a:pPr algn="just">
              <a:lnSpc>
                <a:spcPts val="1832"/>
              </a:lnSpc>
              <a:spcBef>
                <a:spcPct val="0"/>
              </a:spcBef>
            </a:pPr>
          </a:p>
        </p:txBody>
      </p:sp>
      <p:sp>
        <p:nvSpPr>
          <p:cNvPr name="TextBox 17" id="17"/>
          <p:cNvSpPr txBox="true"/>
          <p:nvPr/>
        </p:nvSpPr>
        <p:spPr>
          <a:xfrm rot="0">
            <a:off x="3058235" y="5034508"/>
            <a:ext cx="4429348" cy="246558"/>
          </a:xfrm>
          <a:prstGeom prst="rect">
            <a:avLst/>
          </a:prstGeom>
        </p:spPr>
        <p:txBody>
          <a:bodyPr anchor="t" rtlCol="false" tIns="0" lIns="0" bIns="0" rIns="0">
            <a:spAutoFit/>
          </a:bodyPr>
          <a:lstStyle/>
          <a:p>
            <a:pPr algn="just">
              <a:lnSpc>
                <a:spcPts val="1832"/>
              </a:lnSpc>
              <a:spcBef>
                <a:spcPct val="0"/>
              </a:spcBef>
            </a:pPr>
            <a:r>
              <a:rPr lang="en-US" sz="1832">
                <a:solidFill>
                  <a:srgbClr val="313636"/>
                </a:solidFill>
                <a:latin typeface="Hero Bold"/>
                <a:ea typeface="Hero Bold"/>
                <a:cs typeface="Hero Bold"/>
                <a:sym typeface="Hero Bold"/>
              </a:rPr>
              <a:t>Variabel yang diamati:</a:t>
            </a:r>
          </a:p>
        </p:txBody>
      </p:sp>
    </p:spTree>
  </p:cSld>
  <p:clrMapOvr>
    <a:masterClrMapping/>
  </p:clrMapOvr>
  <p:transition spd="slow">
    <p:push di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825231" y="793108"/>
            <a:ext cx="14334589" cy="9012873"/>
          </a:xfrm>
          <a:custGeom>
            <a:avLst/>
            <a:gdLst/>
            <a:ahLst/>
            <a:cxnLst/>
            <a:rect r="r" b="b" t="t" l="l"/>
            <a:pathLst>
              <a:path h="9012873" w="14334589">
                <a:moveTo>
                  <a:pt x="0" y="0"/>
                </a:moveTo>
                <a:lnTo>
                  <a:pt x="14334588" y="0"/>
                </a:lnTo>
                <a:lnTo>
                  <a:pt x="14334588" y="9012872"/>
                </a:lnTo>
                <a:lnTo>
                  <a:pt x="0" y="90128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6477663" y="373630"/>
            <a:ext cx="4936241" cy="974908"/>
          </a:xfrm>
          <a:custGeom>
            <a:avLst/>
            <a:gdLst/>
            <a:ahLst/>
            <a:cxnLst/>
            <a:rect r="r" b="b" t="t" l="l"/>
            <a:pathLst>
              <a:path h="974908" w="4936241">
                <a:moveTo>
                  <a:pt x="0" y="0"/>
                </a:moveTo>
                <a:lnTo>
                  <a:pt x="4936241" y="0"/>
                </a:lnTo>
                <a:lnTo>
                  <a:pt x="4936241" y="974908"/>
                </a:lnTo>
                <a:lnTo>
                  <a:pt x="0" y="9749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8015321">
            <a:off x="16028727" y="-1427148"/>
            <a:ext cx="4777707" cy="4114800"/>
          </a:xfrm>
          <a:custGeom>
            <a:avLst/>
            <a:gdLst/>
            <a:ahLst/>
            <a:cxnLst/>
            <a:rect r="r" b="b" t="t" l="l"/>
            <a:pathLst>
              <a:path h="4114800" w="4777707">
                <a:moveTo>
                  <a:pt x="0" y="0"/>
                </a:moveTo>
                <a:lnTo>
                  <a:pt x="4777707" y="0"/>
                </a:lnTo>
                <a:lnTo>
                  <a:pt x="477770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607094">
            <a:off x="-960799" y="7854280"/>
            <a:ext cx="3274682" cy="2808040"/>
          </a:xfrm>
          <a:custGeom>
            <a:avLst/>
            <a:gdLst/>
            <a:ahLst/>
            <a:cxnLst/>
            <a:rect r="r" b="b" t="t" l="l"/>
            <a:pathLst>
              <a:path h="2808040" w="3274682">
                <a:moveTo>
                  <a:pt x="0" y="0"/>
                </a:moveTo>
                <a:lnTo>
                  <a:pt x="3274681" y="0"/>
                </a:lnTo>
                <a:lnTo>
                  <a:pt x="3274681" y="2808040"/>
                </a:lnTo>
                <a:lnTo>
                  <a:pt x="0" y="28080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5400000">
            <a:off x="-888039" y="-17138"/>
            <a:ext cx="3365296" cy="2061244"/>
          </a:xfrm>
          <a:custGeom>
            <a:avLst/>
            <a:gdLst/>
            <a:ahLst/>
            <a:cxnLst/>
            <a:rect r="r" b="b" t="t" l="l"/>
            <a:pathLst>
              <a:path h="2061244" w="3365296">
                <a:moveTo>
                  <a:pt x="0" y="0"/>
                </a:moveTo>
                <a:lnTo>
                  <a:pt x="3365296" y="0"/>
                </a:lnTo>
                <a:lnTo>
                  <a:pt x="3365296" y="2061244"/>
                </a:lnTo>
                <a:lnTo>
                  <a:pt x="0" y="2061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748394" y="3304758"/>
            <a:ext cx="822850" cy="1994787"/>
          </a:xfrm>
          <a:custGeom>
            <a:avLst/>
            <a:gdLst/>
            <a:ahLst/>
            <a:cxnLst/>
            <a:rect r="r" b="b" t="t" l="l"/>
            <a:pathLst>
              <a:path h="1994787" w="822850">
                <a:moveTo>
                  <a:pt x="0" y="0"/>
                </a:moveTo>
                <a:lnTo>
                  <a:pt x="822850" y="0"/>
                </a:lnTo>
                <a:lnTo>
                  <a:pt x="822850" y="1994786"/>
                </a:lnTo>
                <a:lnTo>
                  <a:pt x="0" y="19947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6110344" y="8004639"/>
            <a:ext cx="2438815" cy="2438815"/>
          </a:xfrm>
          <a:custGeom>
            <a:avLst/>
            <a:gdLst/>
            <a:ahLst/>
            <a:cxnLst/>
            <a:rect r="r" b="b" t="t" l="l"/>
            <a:pathLst>
              <a:path h="2438815" w="2438815">
                <a:moveTo>
                  <a:pt x="0" y="0"/>
                </a:moveTo>
                <a:lnTo>
                  <a:pt x="2438815" y="0"/>
                </a:lnTo>
                <a:lnTo>
                  <a:pt x="2438815" y="2438815"/>
                </a:lnTo>
                <a:lnTo>
                  <a:pt x="0" y="243881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true" flipV="false" rot="0">
            <a:off x="153340" y="7002149"/>
            <a:ext cx="1282537" cy="939459"/>
          </a:xfrm>
          <a:custGeom>
            <a:avLst/>
            <a:gdLst/>
            <a:ahLst/>
            <a:cxnLst/>
            <a:rect r="r" b="b" t="t" l="l"/>
            <a:pathLst>
              <a:path h="939459" w="1282537">
                <a:moveTo>
                  <a:pt x="1282537" y="0"/>
                </a:moveTo>
                <a:lnTo>
                  <a:pt x="0" y="0"/>
                </a:lnTo>
                <a:lnTo>
                  <a:pt x="0" y="939459"/>
                </a:lnTo>
                <a:lnTo>
                  <a:pt x="1282537" y="939459"/>
                </a:lnTo>
                <a:lnTo>
                  <a:pt x="1282537"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aphicFrame>
        <p:nvGraphicFramePr>
          <p:cNvPr name="Table 11" id="11"/>
          <p:cNvGraphicFramePr>
            <a:graphicFrameLocks noGrp="true"/>
          </p:cNvGraphicFramePr>
          <p:nvPr/>
        </p:nvGraphicFramePr>
        <p:xfrm>
          <a:off x="4135094" y="3670748"/>
          <a:ext cx="8337038" cy="2607492"/>
        </p:xfrm>
        <a:graphic>
          <a:graphicData uri="http://schemas.openxmlformats.org/drawingml/2006/table">
            <a:tbl>
              <a:tblPr/>
              <a:tblGrid>
                <a:gridCol w="1914024"/>
                <a:gridCol w="1463229"/>
                <a:gridCol w="1647186"/>
                <a:gridCol w="1665413"/>
                <a:gridCol w="1647186"/>
              </a:tblGrid>
              <a:tr h="753967">
                <a:tc>
                  <a:txBody>
                    <a:bodyPr anchor="t" rtlCol="false"/>
                    <a:lstStyle/>
                    <a:p>
                      <a:pPr algn="ctr">
                        <a:lnSpc>
                          <a:spcPts val="2520"/>
                        </a:lnSpc>
                        <a:defRPr/>
                      </a:pPr>
                      <a:r>
                        <a:rPr lang="en-US" sz="1800">
                          <a:solidFill>
                            <a:srgbClr val="000000"/>
                          </a:solidFill>
                          <a:latin typeface="Hero"/>
                          <a:ea typeface="Hero"/>
                          <a:cs typeface="Hero"/>
                          <a:sym typeface="Hero"/>
                        </a:rPr>
                        <a:t>Jenis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ro Bold"/>
                          <a:ea typeface="Hero Bold"/>
                          <a:cs typeface="Hero Bold"/>
                          <a:sym typeface="Hero Bold"/>
                        </a:rPr>
                        <a:t>Mean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ro"/>
                          <a:ea typeface="Hero"/>
                          <a:cs typeface="Hero"/>
                          <a:sym typeface="Hero"/>
                        </a:rPr>
                        <a:t>Median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ro"/>
                          <a:ea typeface="Hero"/>
                          <a:cs typeface="Hero"/>
                          <a:sym typeface="Hero"/>
                        </a:rPr>
                        <a:t>Skewness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Hero"/>
                          <a:ea typeface="Hero"/>
                          <a:cs typeface="Hero"/>
                          <a:sym typeface="Hero"/>
                        </a:rPr>
                        <a:t>Kurtosis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82965">
                <a:tc>
                  <a:txBody>
                    <a:bodyPr anchor="t" rtlCol="false"/>
                    <a:lstStyle/>
                    <a:p>
                      <a:pPr algn="l">
                        <a:lnSpc>
                          <a:spcPts val="2379"/>
                        </a:lnSpc>
                        <a:defRPr/>
                      </a:pPr>
                      <a:r>
                        <a:rPr lang="en-US" sz="1699">
                          <a:solidFill>
                            <a:srgbClr val="000000"/>
                          </a:solidFill>
                          <a:latin typeface="Hero"/>
                          <a:ea typeface="Hero"/>
                          <a:cs typeface="Hero"/>
                          <a:sym typeface="Hero"/>
                        </a:rPr>
                        <a:t>Data asli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Arimo"/>
                          <a:ea typeface="Arimo"/>
                          <a:cs typeface="Arimo"/>
                          <a:sym typeface="Arimo"/>
                        </a:rPr>
                        <a:t>12.60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Arimo"/>
                          <a:ea typeface="Arimo"/>
                          <a:cs typeface="Arimo"/>
                          <a:sym typeface="Arimo"/>
                        </a:rPr>
                        <a:t>6.5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2.62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Open Sans"/>
                          <a:ea typeface="Open Sans"/>
                          <a:cs typeface="Open Sans"/>
                          <a:sym typeface="Open Sans"/>
                        </a:rPr>
                        <a:t>11.92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0560">
                <a:tc>
                  <a:txBody>
                    <a:bodyPr anchor="t" rtlCol="false"/>
                    <a:lstStyle/>
                    <a:p>
                      <a:pPr algn="l">
                        <a:lnSpc>
                          <a:spcPts val="2379"/>
                        </a:lnSpc>
                        <a:defRPr/>
                      </a:pPr>
                      <a:r>
                        <a:rPr lang="en-US" sz="1699">
                          <a:solidFill>
                            <a:srgbClr val="000000"/>
                          </a:solidFill>
                          <a:latin typeface="Arimo"/>
                          <a:ea typeface="Arimo"/>
                          <a:cs typeface="Arimo"/>
                          <a:sym typeface="Arimo"/>
                        </a:rPr>
                        <a:t>Data simulasi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Hero"/>
                          <a:ea typeface="Hero"/>
                          <a:cs typeface="Hero"/>
                          <a:sym typeface="Hero"/>
                        </a:rPr>
                        <a:t>7.87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Hero"/>
                          <a:ea typeface="Hero"/>
                          <a:cs typeface="Hero"/>
                          <a:sym typeface="Hero"/>
                        </a:rPr>
                        <a:t>5.32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Hero"/>
                          <a:ea typeface="Hero"/>
                          <a:cs typeface="Hero"/>
                          <a:sym typeface="Hero"/>
                        </a:rPr>
                        <a:t>3.59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79"/>
                        </a:lnSpc>
                        <a:defRPr/>
                      </a:pPr>
                      <a:r>
                        <a:rPr lang="en-US" sz="1699">
                          <a:solidFill>
                            <a:srgbClr val="000000"/>
                          </a:solidFill>
                          <a:latin typeface="Hero"/>
                          <a:ea typeface="Hero"/>
                          <a:cs typeface="Hero"/>
                          <a:sym typeface="Hero"/>
                        </a:rPr>
                        <a:t>18.97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2" id="12"/>
          <p:cNvSpPr txBox="true"/>
          <p:nvPr/>
        </p:nvSpPr>
        <p:spPr>
          <a:xfrm rot="0">
            <a:off x="6477663" y="476566"/>
            <a:ext cx="4942182" cy="597585"/>
          </a:xfrm>
          <a:prstGeom prst="rect">
            <a:avLst/>
          </a:prstGeom>
        </p:spPr>
        <p:txBody>
          <a:bodyPr anchor="t" rtlCol="false" tIns="0" lIns="0" bIns="0" rIns="0">
            <a:spAutoFit/>
          </a:bodyPr>
          <a:lstStyle/>
          <a:p>
            <a:pPr algn="ctr">
              <a:lnSpc>
                <a:spcPts val="2810"/>
              </a:lnSpc>
            </a:pPr>
            <a:r>
              <a:rPr lang="en-US" b="true" sz="2810">
                <a:solidFill>
                  <a:srgbClr val="FFFFFF"/>
                </a:solidFill>
                <a:latin typeface="Biski Bold"/>
                <a:ea typeface="Biski Bold"/>
                <a:cs typeface="Biski Bold"/>
                <a:sym typeface="Biski Bold"/>
              </a:rPr>
              <a:t>HASIL &amp; PEMBAHASAN</a:t>
            </a:r>
          </a:p>
        </p:txBody>
      </p:sp>
      <p:sp>
        <p:nvSpPr>
          <p:cNvPr name="TextBox 13" id="13"/>
          <p:cNvSpPr txBox="true"/>
          <p:nvPr/>
        </p:nvSpPr>
        <p:spPr>
          <a:xfrm rot="0">
            <a:off x="2737406" y="6479648"/>
            <a:ext cx="12416753" cy="1083103"/>
          </a:xfrm>
          <a:prstGeom prst="rect">
            <a:avLst/>
          </a:prstGeom>
        </p:spPr>
        <p:txBody>
          <a:bodyPr anchor="t" rtlCol="false" tIns="0" lIns="0" bIns="0" rIns="0">
            <a:spAutoFit/>
          </a:bodyPr>
          <a:lstStyle/>
          <a:p>
            <a:pPr algn="just" marL="0" indent="0" lvl="0">
              <a:lnSpc>
                <a:spcPts val="2141"/>
              </a:lnSpc>
              <a:spcBef>
                <a:spcPct val="0"/>
              </a:spcBef>
            </a:pPr>
            <a:r>
              <a:rPr lang="en-US" sz="2141">
                <a:solidFill>
                  <a:srgbClr val="313636"/>
                </a:solidFill>
                <a:latin typeface="Hero Bold"/>
                <a:ea typeface="Hero Bold"/>
                <a:cs typeface="Hero Bold"/>
                <a:sym typeface="Hero Bold"/>
              </a:rPr>
              <a:t>Data asli menunjukkan rata-rata curah hujan 12.60 mm dan median 6.5 mm, menandakan sebaran condong ke kanan karena banyak nilai rendah dan sedikit hujan ekstrem. Hal ini diperkuat oleh skewness 2.62 dan kurtosis 11.92 yang menunjukkan kemencengan positif tinggi serta ekor distribusi yang berat.</a:t>
            </a:r>
          </a:p>
        </p:txBody>
      </p:sp>
      <p:sp>
        <p:nvSpPr>
          <p:cNvPr name="TextBox 14" id="14"/>
          <p:cNvSpPr txBox="true"/>
          <p:nvPr/>
        </p:nvSpPr>
        <p:spPr>
          <a:xfrm rot="0">
            <a:off x="2578436" y="1506880"/>
            <a:ext cx="12416753" cy="2416603"/>
          </a:xfrm>
          <a:prstGeom prst="rect">
            <a:avLst/>
          </a:prstGeom>
        </p:spPr>
        <p:txBody>
          <a:bodyPr anchor="t" rtlCol="false" tIns="0" lIns="0" bIns="0" rIns="0">
            <a:spAutoFit/>
          </a:bodyPr>
          <a:lstStyle/>
          <a:p>
            <a:pPr algn="just">
              <a:lnSpc>
                <a:spcPts val="2141"/>
              </a:lnSpc>
            </a:pPr>
            <a:r>
              <a:rPr lang="en-US" sz="2141">
                <a:solidFill>
                  <a:srgbClr val="313636"/>
                </a:solidFill>
                <a:latin typeface="Hero Bold"/>
                <a:ea typeface="Hero Bold"/>
                <a:cs typeface="Hero Bold"/>
                <a:sym typeface="Hero Bold"/>
              </a:rPr>
              <a:t>Data yang digunakan merupakan data curah hujan di kabupaten Lampung Selatan tahun 2024. Data ditampilkan dalam bentuk tabel ringkasan statistik, grafik, histogram dan kurva density. Untuk memperlihatkan sebaran curah hujan asli dan hasil simulasi dari metode pembangkitan bilangan acak, dilakukan pembangkitan data acak dengan menggunakan metode Inverse Transform. Untuk memodelkan data curah hujan, simulasi dilakukan dengan menggunakan distribusi Log-Normal yang cocok untuk data positif dan memiliki kemencengan mirip data asli. Berikut adalah Tabel ringkasan statistik untuk data asli dan simulasi:</a:t>
            </a:r>
          </a:p>
          <a:p>
            <a:pPr algn="just" marL="0" indent="0" lvl="0">
              <a:lnSpc>
                <a:spcPts val="2141"/>
              </a:lnSpc>
              <a:spcBef>
                <a:spcPct val="0"/>
              </a:spcBef>
            </a:pPr>
          </a:p>
        </p:txBody>
      </p:sp>
      <p:sp>
        <p:nvSpPr>
          <p:cNvPr name="TextBox 15" id="15"/>
          <p:cNvSpPr txBox="true"/>
          <p:nvPr/>
        </p:nvSpPr>
        <p:spPr>
          <a:xfrm rot="0">
            <a:off x="2737406" y="7724676"/>
            <a:ext cx="12416753" cy="1083103"/>
          </a:xfrm>
          <a:prstGeom prst="rect">
            <a:avLst/>
          </a:prstGeom>
        </p:spPr>
        <p:txBody>
          <a:bodyPr anchor="t" rtlCol="false" tIns="0" lIns="0" bIns="0" rIns="0">
            <a:spAutoFit/>
          </a:bodyPr>
          <a:lstStyle/>
          <a:p>
            <a:pPr algn="just" marL="0" indent="0" lvl="0">
              <a:lnSpc>
                <a:spcPts val="2141"/>
              </a:lnSpc>
              <a:spcBef>
                <a:spcPct val="0"/>
              </a:spcBef>
            </a:pPr>
            <a:r>
              <a:rPr lang="en-US" sz="2141">
                <a:solidFill>
                  <a:srgbClr val="313636"/>
                </a:solidFill>
                <a:latin typeface="Hero Bold"/>
                <a:ea typeface="Hero Bold"/>
                <a:cs typeface="Hero Bold"/>
                <a:sym typeface="Hero Bold"/>
              </a:rPr>
              <a:t>Sementara itu, data simulasi memiliki mean dan median yang lebih kecil dari data asli, sehingga model cenderung menghasilkan curah hujan lebih rendah. Nilai skewness dan kurtosis yang jauh lebih tinggi menunjukkan sebaran yang lebih menceng dan lebih tajam dibandingkan data observasi.</a:t>
            </a:r>
          </a:p>
        </p:txBody>
      </p:sp>
    </p:spTree>
  </p:cSld>
  <p:clrMapOvr>
    <a:masterClrMapping/>
  </p:clrMapOvr>
  <p:transition spd="slow">
    <p:push di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72728" y="257313"/>
            <a:ext cx="15542544" cy="9772374"/>
          </a:xfrm>
          <a:custGeom>
            <a:avLst/>
            <a:gdLst/>
            <a:ahLst/>
            <a:cxnLst/>
            <a:rect r="r" b="b" t="t" l="l"/>
            <a:pathLst>
              <a:path h="9772374" w="15542544">
                <a:moveTo>
                  <a:pt x="0" y="0"/>
                </a:moveTo>
                <a:lnTo>
                  <a:pt x="15542544" y="0"/>
                </a:lnTo>
                <a:lnTo>
                  <a:pt x="15542544" y="9772374"/>
                </a:lnTo>
                <a:lnTo>
                  <a:pt x="0" y="97723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6477663" y="53792"/>
            <a:ext cx="4936241" cy="974908"/>
          </a:xfrm>
          <a:custGeom>
            <a:avLst/>
            <a:gdLst/>
            <a:ahLst/>
            <a:cxnLst/>
            <a:rect r="r" b="b" t="t" l="l"/>
            <a:pathLst>
              <a:path h="974908" w="4936241">
                <a:moveTo>
                  <a:pt x="0" y="0"/>
                </a:moveTo>
                <a:lnTo>
                  <a:pt x="4936241" y="0"/>
                </a:lnTo>
                <a:lnTo>
                  <a:pt x="4936241" y="974908"/>
                </a:lnTo>
                <a:lnTo>
                  <a:pt x="0" y="9749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8015321">
            <a:off x="16028727" y="-1427148"/>
            <a:ext cx="4777707" cy="4114800"/>
          </a:xfrm>
          <a:custGeom>
            <a:avLst/>
            <a:gdLst/>
            <a:ahLst/>
            <a:cxnLst/>
            <a:rect r="r" b="b" t="t" l="l"/>
            <a:pathLst>
              <a:path h="4114800" w="4777707">
                <a:moveTo>
                  <a:pt x="0" y="0"/>
                </a:moveTo>
                <a:lnTo>
                  <a:pt x="4777707" y="0"/>
                </a:lnTo>
                <a:lnTo>
                  <a:pt x="477770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607094">
            <a:off x="-960799" y="7854280"/>
            <a:ext cx="3274682" cy="2808040"/>
          </a:xfrm>
          <a:custGeom>
            <a:avLst/>
            <a:gdLst/>
            <a:ahLst/>
            <a:cxnLst/>
            <a:rect r="r" b="b" t="t" l="l"/>
            <a:pathLst>
              <a:path h="2808040" w="3274682">
                <a:moveTo>
                  <a:pt x="0" y="0"/>
                </a:moveTo>
                <a:lnTo>
                  <a:pt x="3274681" y="0"/>
                </a:lnTo>
                <a:lnTo>
                  <a:pt x="3274681" y="2808040"/>
                </a:lnTo>
                <a:lnTo>
                  <a:pt x="0" y="28080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5400000">
            <a:off x="-888039" y="-17138"/>
            <a:ext cx="3365296" cy="2061244"/>
          </a:xfrm>
          <a:custGeom>
            <a:avLst/>
            <a:gdLst/>
            <a:ahLst/>
            <a:cxnLst/>
            <a:rect r="r" b="b" t="t" l="l"/>
            <a:pathLst>
              <a:path h="2061244" w="3365296">
                <a:moveTo>
                  <a:pt x="0" y="0"/>
                </a:moveTo>
                <a:lnTo>
                  <a:pt x="3365296" y="0"/>
                </a:lnTo>
                <a:lnTo>
                  <a:pt x="3365296" y="2061244"/>
                </a:lnTo>
                <a:lnTo>
                  <a:pt x="0" y="2061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748394" y="3304758"/>
            <a:ext cx="822850" cy="1994787"/>
          </a:xfrm>
          <a:custGeom>
            <a:avLst/>
            <a:gdLst/>
            <a:ahLst/>
            <a:cxnLst/>
            <a:rect r="r" b="b" t="t" l="l"/>
            <a:pathLst>
              <a:path h="1994787" w="822850">
                <a:moveTo>
                  <a:pt x="0" y="0"/>
                </a:moveTo>
                <a:lnTo>
                  <a:pt x="822850" y="0"/>
                </a:lnTo>
                <a:lnTo>
                  <a:pt x="822850" y="1994786"/>
                </a:lnTo>
                <a:lnTo>
                  <a:pt x="0" y="19947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6110344" y="8004639"/>
            <a:ext cx="2438815" cy="2438815"/>
          </a:xfrm>
          <a:custGeom>
            <a:avLst/>
            <a:gdLst/>
            <a:ahLst/>
            <a:cxnLst/>
            <a:rect r="r" b="b" t="t" l="l"/>
            <a:pathLst>
              <a:path h="2438815" w="2438815">
                <a:moveTo>
                  <a:pt x="0" y="0"/>
                </a:moveTo>
                <a:lnTo>
                  <a:pt x="2438815" y="0"/>
                </a:lnTo>
                <a:lnTo>
                  <a:pt x="2438815" y="2438815"/>
                </a:lnTo>
                <a:lnTo>
                  <a:pt x="0" y="243881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true" flipV="false" rot="0">
            <a:off x="153340" y="7002149"/>
            <a:ext cx="1282537" cy="939459"/>
          </a:xfrm>
          <a:custGeom>
            <a:avLst/>
            <a:gdLst/>
            <a:ahLst/>
            <a:cxnLst/>
            <a:rect r="r" b="b" t="t" l="l"/>
            <a:pathLst>
              <a:path h="939459" w="1282537">
                <a:moveTo>
                  <a:pt x="1282537" y="0"/>
                </a:moveTo>
                <a:lnTo>
                  <a:pt x="0" y="0"/>
                </a:lnTo>
                <a:lnTo>
                  <a:pt x="0" y="939459"/>
                </a:lnTo>
                <a:lnTo>
                  <a:pt x="1282537" y="939459"/>
                </a:lnTo>
                <a:lnTo>
                  <a:pt x="1282537"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2433975" y="1239562"/>
            <a:ext cx="5106083" cy="3573079"/>
          </a:xfrm>
          <a:custGeom>
            <a:avLst/>
            <a:gdLst/>
            <a:ahLst/>
            <a:cxnLst/>
            <a:rect r="r" b="b" t="t" l="l"/>
            <a:pathLst>
              <a:path h="3573079" w="5106083">
                <a:moveTo>
                  <a:pt x="0" y="0"/>
                </a:moveTo>
                <a:lnTo>
                  <a:pt x="5106082" y="0"/>
                </a:lnTo>
                <a:lnTo>
                  <a:pt x="5106082" y="3573079"/>
                </a:lnTo>
                <a:lnTo>
                  <a:pt x="0" y="3573079"/>
                </a:lnTo>
                <a:lnTo>
                  <a:pt x="0" y="0"/>
                </a:lnTo>
                <a:close/>
              </a:path>
            </a:pathLst>
          </a:custGeom>
          <a:blipFill>
            <a:blip r:embed="rId19"/>
            <a:stretch>
              <a:fillRect l="0" t="0" r="0" b="0"/>
            </a:stretch>
          </a:blipFill>
        </p:spPr>
      </p:sp>
      <p:sp>
        <p:nvSpPr>
          <p:cNvPr name="Freeform 12" id="12"/>
          <p:cNvSpPr/>
          <p:nvPr/>
        </p:nvSpPr>
        <p:spPr>
          <a:xfrm flipH="false" flipV="false" rot="0">
            <a:off x="9672405" y="1053038"/>
            <a:ext cx="6075989" cy="3946126"/>
          </a:xfrm>
          <a:custGeom>
            <a:avLst/>
            <a:gdLst/>
            <a:ahLst/>
            <a:cxnLst/>
            <a:rect r="r" b="b" t="t" l="l"/>
            <a:pathLst>
              <a:path h="3946126" w="6075989">
                <a:moveTo>
                  <a:pt x="0" y="0"/>
                </a:moveTo>
                <a:lnTo>
                  <a:pt x="6075989" y="0"/>
                </a:lnTo>
                <a:lnTo>
                  <a:pt x="6075989" y="3946127"/>
                </a:lnTo>
                <a:lnTo>
                  <a:pt x="0" y="3946127"/>
                </a:lnTo>
                <a:lnTo>
                  <a:pt x="0" y="0"/>
                </a:lnTo>
                <a:close/>
              </a:path>
            </a:pathLst>
          </a:custGeom>
          <a:blipFill>
            <a:blip r:embed="rId20"/>
            <a:stretch>
              <a:fillRect l="0" t="0" r="0" b="0"/>
            </a:stretch>
          </a:blipFill>
        </p:spPr>
      </p:sp>
      <p:sp>
        <p:nvSpPr>
          <p:cNvPr name="Freeform 13" id="13"/>
          <p:cNvSpPr/>
          <p:nvPr/>
        </p:nvSpPr>
        <p:spPr>
          <a:xfrm flipH="false" flipV="false" rot="0">
            <a:off x="10763708" y="5590998"/>
            <a:ext cx="5346636" cy="3633048"/>
          </a:xfrm>
          <a:custGeom>
            <a:avLst/>
            <a:gdLst/>
            <a:ahLst/>
            <a:cxnLst/>
            <a:rect r="r" b="b" t="t" l="l"/>
            <a:pathLst>
              <a:path h="3633048" w="5346636">
                <a:moveTo>
                  <a:pt x="0" y="0"/>
                </a:moveTo>
                <a:lnTo>
                  <a:pt x="5346636" y="0"/>
                </a:lnTo>
                <a:lnTo>
                  <a:pt x="5346636" y="3633048"/>
                </a:lnTo>
                <a:lnTo>
                  <a:pt x="0" y="3633048"/>
                </a:lnTo>
                <a:lnTo>
                  <a:pt x="0" y="0"/>
                </a:lnTo>
                <a:close/>
              </a:path>
            </a:pathLst>
          </a:custGeom>
          <a:blipFill>
            <a:blip r:embed="rId21"/>
            <a:stretch>
              <a:fillRect l="0" t="0" r="0" b="0"/>
            </a:stretch>
          </a:blipFill>
        </p:spPr>
      </p:sp>
      <p:sp>
        <p:nvSpPr>
          <p:cNvPr name="TextBox 14" id="14"/>
          <p:cNvSpPr txBox="true"/>
          <p:nvPr/>
        </p:nvSpPr>
        <p:spPr>
          <a:xfrm rot="0">
            <a:off x="6477663" y="156729"/>
            <a:ext cx="4942182" cy="597585"/>
          </a:xfrm>
          <a:prstGeom prst="rect">
            <a:avLst/>
          </a:prstGeom>
        </p:spPr>
        <p:txBody>
          <a:bodyPr anchor="t" rtlCol="false" tIns="0" lIns="0" bIns="0" rIns="0">
            <a:spAutoFit/>
          </a:bodyPr>
          <a:lstStyle/>
          <a:p>
            <a:pPr algn="ctr">
              <a:lnSpc>
                <a:spcPts val="2810"/>
              </a:lnSpc>
            </a:pPr>
            <a:r>
              <a:rPr lang="en-US" b="true" sz="2810">
                <a:solidFill>
                  <a:srgbClr val="FFFFFF"/>
                </a:solidFill>
                <a:latin typeface="Biski Bold"/>
                <a:ea typeface="Biski Bold"/>
                <a:cs typeface="Biski Bold"/>
                <a:sym typeface="Biski Bold"/>
              </a:rPr>
              <a:t>HASIL &amp; PEMBAHASAN</a:t>
            </a:r>
          </a:p>
        </p:txBody>
      </p:sp>
      <p:sp>
        <p:nvSpPr>
          <p:cNvPr name="TextBox 15" id="15"/>
          <p:cNvSpPr txBox="true"/>
          <p:nvPr/>
        </p:nvSpPr>
        <p:spPr>
          <a:xfrm rot="0">
            <a:off x="2176590" y="5337644"/>
            <a:ext cx="8095579" cy="3510122"/>
          </a:xfrm>
          <a:prstGeom prst="rect">
            <a:avLst/>
          </a:prstGeom>
        </p:spPr>
        <p:txBody>
          <a:bodyPr anchor="t" rtlCol="false" tIns="0" lIns="0" bIns="0" rIns="0">
            <a:spAutoFit/>
          </a:bodyPr>
          <a:lstStyle/>
          <a:p>
            <a:pPr algn="just">
              <a:lnSpc>
                <a:spcPts val="2334"/>
              </a:lnSpc>
              <a:spcBef>
                <a:spcPct val="0"/>
              </a:spcBef>
            </a:pPr>
            <a:r>
              <a:rPr lang="en-US" sz="2334">
                <a:solidFill>
                  <a:srgbClr val="313636"/>
                </a:solidFill>
                <a:latin typeface="Hero Bold"/>
                <a:ea typeface="Hero Bold"/>
                <a:cs typeface="Hero Bold"/>
                <a:sym typeface="Hero Bold"/>
              </a:rPr>
              <a:t>Histogram menunjukkan bahwa data asli dan simulasi sama-sama didominasi nilai curah hujan rendah, tetapi data simulasi lebih terkonsentrasi dan kurang bervariasi dibanding data asli yang memiliki beberapa nilai ekstrem. Kurva density keduanya berpuncak di nilai rendah; data asli memiliki ekor panjang, sedangkan simulasi memiliki puncak lebih tajam dan ekor lebih berat. CDF simulasi naik lebih cepat pada nilai rendah, menandakan sebagian besar datanya berada pada rentang rendah. Secara keseluruhan, simulasi berhasil meniru pola distribusi data asli, diperkuat p-value KS 0.9891 yang menunjukkan kesesuaian model.</a:t>
            </a:r>
          </a:p>
        </p:txBody>
      </p:sp>
    </p:spTree>
  </p:cSld>
  <p:clrMapOvr>
    <a:masterClrMapping/>
  </p:clrMapOvr>
  <p:transition spd="slow">
    <p:push dir="u"/>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700192" y="1314284"/>
            <a:ext cx="12580139" cy="7909762"/>
          </a:xfrm>
          <a:custGeom>
            <a:avLst/>
            <a:gdLst/>
            <a:ahLst/>
            <a:cxnLst/>
            <a:rect r="r" b="b" t="t" l="l"/>
            <a:pathLst>
              <a:path h="7909762" w="12580139">
                <a:moveTo>
                  <a:pt x="0" y="0"/>
                </a:moveTo>
                <a:lnTo>
                  <a:pt x="12580138" y="0"/>
                </a:lnTo>
                <a:lnTo>
                  <a:pt x="12580138" y="7909762"/>
                </a:lnTo>
                <a:lnTo>
                  <a:pt x="0" y="7909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6478791" y="861084"/>
            <a:ext cx="4936241" cy="974908"/>
          </a:xfrm>
          <a:custGeom>
            <a:avLst/>
            <a:gdLst/>
            <a:ahLst/>
            <a:cxnLst/>
            <a:rect r="r" b="b" t="t" l="l"/>
            <a:pathLst>
              <a:path h="974908" w="4936241">
                <a:moveTo>
                  <a:pt x="0" y="0"/>
                </a:moveTo>
                <a:lnTo>
                  <a:pt x="4936241" y="0"/>
                </a:lnTo>
                <a:lnTo>
                  <a:pt x="4936241" y="974908"/>
                </a:lnTo>
                <a:lnTo>
                  <a:pt x="0" y="9749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5" id="5"/>
          <p:cNvSpPr txBox="true"/>
          <p:nvPr/>
        </p:nvSpPr>
        <p:spPr>
          <a:xfrm rot="0">
            <a:off x="6736868" y="759895"/>
            <a:ext cx="4285858" cy="996310"/>
          </a:xfrm>
          <a:prstGeom prst="rect">
            <a:avLst/>
          </a:prstGeom>
        </p:spPr>
        <p:txBody>
          <a:bodyPr anchor="t" rtlCol="false" tIns="0" lIns="0" bIns="0" rIns="0">
            <a:spAutoFit/>
          </a:bodyPr>
          <a:lstStyle/>
          <a:p>
            <a:pPr algn="ctr">
              <a:lnSpc>
                <a:spcPts val="2934"/>
              </a:lnSpc>
            </a:pPr>
            <a:r>
              <a:rPr lang="en-US" b="true" sz="2934">
                <a:solidFill>
                  <a:srgbClr val="FFFFFF"/>
                </a:solidFill>
                <a:latin typeface="Biski Bold"/>
                <a:ea typeface="Biski Bold"/>
                <a:cs typeface="Biski Bold"/>
                <a:sym typeface="Biski Bold"/>
              </a:rPr>
              <a:t>KESIMPULAN &amp; SARAN</a:t>
            </a:r>
          </a:p>
        </p:txBody>
      </p:sp>
      <p:sp>
        <p:nvSpPr>
          <p:cNvPr name="Freeform 6" id="6"/>
          <p:cNvSpPr/>
          <p:nvPr/>
        </p:nvSpPr>
        <p:spPr>
          <a:xfrm flipH="false" flipV="false" rot="5607094">
            <a:off x="-960799" y="7854280"/>
            <a:ext cx="3274682" cy="2808040"/>
          </a:xfrm>
          <a:custGeom>
            <a:avLst/>
            <a:gdLst/>
            <a:ahLst/>
            <a:cxnLst/>
            <a:rect r="r" b="b" t="t" l="l"/>
            <a:pathLst>
              <a:path h="2808040" w="3274682">
                <a:moveTo>
                  <a:pt x="0" y="0"/>
                </a:moveTo>
                <a:lnTo>
                  <a:pt x="3274681" y="0"/>
                </a:lnTo>
                <a:lnTo>
                  <a:pt x="3274681" y="2808040"/>
                </a:lnTo>
                <a:lnTo>
                  <a:pt x="0" y="28080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7" id="7"/>
          <p:cNvSpPr/>
          <p:nvPr/>
        </p:nvSpPr>
        <p:spPr>
          <a:xfrm flipH="false" flipV="false" rot="5400000">
            <a:off x="-888039" y="-17138"/>
            <a:ext cx="3365296" cy="2061244"/>
          </a:xfrm>
          <a:custGeom>
            <a:avLst/>
            <a:gdLst/>
            <a:ahLst/>
            <a:cxnLst/>
            <a:rect r="r" b="b" t="t" l="l"/>
            <a:pathLst>
              <a:path h="2061244" w="3365296">
                <a:moveTo>
                  <a:pt x="0" y="0"/>
                </a:moveTo>
                <a:lnTo>
                  <a:pt x="3365296" y="0"/>
                </a:lnTo>
                <a:lnTo>
                  <a:pt x="3365296" y="2061244"/>
                </a:lnTo>
                <a:lnTo>
                  <a:pt x="0" y="20612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5748394" y="3304758"/>
            <a:ext cx="822850" cy="1994787"/>
          </a:xfrm>
          <a:custGeom>
            <a:avLst/>
            <a:gdLst/>
            <a:ahLst/>
            <a:cxnLst/>
            <a:rect r="r" b="b" t="t" l="l"/>
            <a:pathLst>
              <a:path h="1994787" w="822850">
                <a:moveTo>
                  <a:pt x="0" y="0"/>
                </a:moveTo>
                <a:lnTo>
                  <a:pt x="822850" y="0"/>
                </a:lnTo>
                <a:lnTo>
                  <a:pt x="822850" y="1994786"/>
                </a:lnTo>
                <a:lnTo>
                  <a:pt x="0" y="19947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0">
            <a:off x="16110344" y="8004639"/>
            <a:ext cx="2438815" cy="2438815"/>
          </a:xfrm>
          <a:custGeom>
            <a:avLst/>
            <a:gdLst/>
            <a:ahLst/>
            <a:cxnLst/>
            <a:rect r="r" b="b" t="t" l="l"/>
            <a:pathLst>
              <a:path h="2438815" w="2438815">
                <a:moveTo>
                  <a:pt x="0" y="0"/>
                </a:moveTo>
                <a:lnTo>
                  <a:pt x="2438815" y="0"/>
                </a:lnTo>
                <a:lnTo>
                  <a:pt x="2438815" y="2438815"/>
                </a:lnTo>
                <a:lnTo>
                  <a:pt x="0" y="24388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true" flipV="false" rot="0">
            <a:off x="153340" y="7002149"/>
            <a:ext cx="1282537" cy="939459"/>
          </a:xfrm>
          <a:custGeom>
            <a:avLst/>
            <a:gdLst/>
            <a:ahLst/>
            <a:cxnLst/>
            <a:rect r="r" b="b" t="t" l="l"/>
            <a:pathLst>
              <a:path h="939459" w="1282537">
                <a:moveTo>
                  <a:pt x="1282537" y="0"/>
                </a:moveTo>
                <a:lnTo>
                  <a:pt x="0" y="0"/>
                </a:lnTo>
                <a:lnTo>
                  <a:pt x="0" y="939459"/>
                </a:lnTo>
                <a:lnTo>
                  <a:pt x="1282537" y="939459"/>
                </a:lnTo>
                <a:lnTo>
                  <a:pt x="1282537"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8015321">
            <a:off x="16028727" y="-1427148"/>
            <a:ext cx="4777707" cy="4114800"/>
          </a:xfrm>
          <a:custGeom>
            <a:avLst/>
            <a:gdLst/>
            <a:ahLst/>
            <a:cxnLst/>
            <a:rect r="r" b="b" t="t" l="l"/>
            <a:pathLst>
              <a:path h="4114800" w="4777707">
                <a:moveTo>
                  <a:pt x="0" y="0"/>
                </a:moveTo>
                <a:lnTo>
                  <a:pt x="4777707" y="0"/>
                </a:lnTo>
                <a:lnTo>
                  <a:pt x="4777707"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2" id="12"/>
          <p:cNvSpPr txBox="true"/>
          <p:nvPr/>
        </p:nvSpPr>
        <p:spPr>
          <a:xfrm rot="0">
            <a:off x="3927418" y="2268044"/>
            <a:ext cx="9904759" cy="3216703"/>
          </a:xfrm>
          <a:prstGeom prst="rect">
            <a:avLst/>
          </a:prstGeom>
        </p:spPr>
        <p:txBody>
          <a:bodyPr anchor="t" rtlCol="false" tIns="0" lIns="0" bIns="0" rIns="0">
            <a:spAutoFit/>
          </a:bodyPr>
          <a:lstStyle/>
          <a:p>
            <a:pPr algn="just">
              <a:lnSpc>
                <a:spcPts val="2141"/>
              </a:lnSpc>
            </a:pPr>
            <a:r>
              <a:rPr lang="en-US" sz="2141">
                <a:solidFill>
                  <a:srgbClr val="313636"/>
                </a:solidFill>
                <a:latin typeface="Hero Bold"/>
                <a:ea typeface="Hero Bold"/>
                <a:cs typeface="Hero Bold"/>
                <a:sym typeface="Hero Bold"/>
              </a:rPr>
              <a:t>Kesimpulan: </a:t>
            </a:r>
          </a:p>
          <a:p>
            <a:pPr algn="just">
              <a:lnSpc>
                <a:spcPts val="2141"/>
              </a:lnSpc>
            </a:pPr>
            <a:r>
              <a:rPr lang="en-US" sz="2141">
                <a:solidFill>
                  <a:srgbClr val="313636"/>
                </a:solidFill>
                <a:latin typeface="Hero Bold"/>
                <a:ea typeface="Hero Bold"/>
                <a:cs typeface="Hero Bold"/>
                <a:sym typeface="Hero Bold"/>
              </a:rPr>
              <a:t>Berdasarkan hasil dan pembahasan yang telah dilakukan, dapat disimpulkan bahwa metode simulasi pembangkitan bilangan acak dengan menggunakan metode Inverse Transform dan distribusi log-normal mampu mereplikasi pola distribusi data curah hujan asli secara efektif. Simulasi ini menangkap karakteristik utama data asli, seperti kemencengan positif yang menunjukkan banyaknya kejadian hujan ringan dan beberapa kejadian hujan ekstrem, serta kurtosis tinggi yang mencerminkan ekor distribusi yang berat. Hal ini juga didukung oleh hasil uji Kolmogorov-Smirnov dengan p-value tinggi yang menunjukkan kesesuaian model secara statistik. </a:t>
            </a:r>
          </a:p>
          <a:p>
            <a:pPr algn="just" marL="0" indent="0" lvl="0">
              <a:lnSpc>
                <a:spcPts val="2141"/>
              </a:lnSpc>
              <a:spcBef>
                <a:spcPct val="0"/>
              </a:spcBef>
            </a:pPr>
          </a:p>
        </p:txBody>
      </p:sp>
      <p:sp>
        <p:nvSpPr>
          <p:cNvPr name="TextBox 13" id="13"/>
          <p:cNvSpPr txBox="true"/>
          <p:nvPr/>
        </p:nvSpPr>
        <p:spPr>
          <a:xfrm rot="0">
            <a:off x="3927418" y="5522847"/>
            <a:ext cx="9904759" cy="1883203"/>
          </a:xfrm>
          <a:prstGeom prst="rect">
            <a:avLst/>
          </a:prstGeom>
        </p:spPr>
        <p:txBody>
          <a:bodyPr anchor="t" rtlCol="false" tIns="0" lIns="0" bIns="0" rIns="0">
            <a:spAutoFit/>
          </a:bodyPr>
          <a:lstStyle/>
          <a:p>
            <a:pPr algn="just">
              <a:lnSpc>
                <a:spcPts val="2141"/>
              </a:lnSpc>
            </a:pPr>
            <a:r>
              <a:rPr lang="en-US" sz="2141">
                <a:solidFill>
                  <a:srgbClr val="313636"/>
                </a:solidFill>
                <a:latin typeface="Hero Bold"/>
                <a:ea typeface="Hero Bold"/>
                <a:cs typeface="Hero Bold"/>
                <a:sym typeface="Hero Bold"/>
              </a:rPr>
              <a:t>Saran: </a:t>
            </a:r>
          </a:p>
          <a:p>
            <a:pPr algn="just">
              <a:lnSpc>
                <a:spcPts val="2141"/>
              </a:lnSpc>
            </a:pPr>
            <a:r>
              <a:rPr lang="en-US" sz="2141">
                <a:solidFill>
                  <a:srgbClr val="313636"/>
                </a:solidFill>
                <a:latin typeface="Hero Bold"/>
                <a:ea typeface="Hero Bold"/>
                <a:cs typeface="Hero Bold"/>
                <a:sym typeface="Hero Bold"/>
              </a:rPr>
              <a:t>Diperlukan Penelitian lebih lanjut perlu memperluas pemodelan dengan berbagai distribusi probabilitas yang lebih general agar hasilnya dapat lebih aplikatif dan representatif dalam studi statistik terapan, khususnya dalam bidang hidrologi dan klimatologi.</a:t>
            </a:r>
          </a:p>
          <a:p>
            <a:pPr algn="just">
              <a:lnSpc>
                <a:spcPts val="2141"/>
              </a:lnSpc>
              <a:spcBef>
                <a:spcPct val="0"/>
              </a:spcBef>
            </a:pPr>
          </a:p>
          <a:p>
            <a:pPr algn="just" marL="0" indent="0" lvl="0">
              <a:lnSpc>
                <a:spcPts val="2141"/>
              </a:lnSpc>
              <a:spcBef>
                <a:spcPct val="0"/>
              </a:spcBef>
            </a:pP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DAG5H5Jo3bQ</dc:identifier>
  <dcterms:modified xsi:type="dcterms:W3CDTF">2011-08-01T06:04:30Z</dcterms:modified>
  <cp:revision>1</cp:revision>
  <dc:title>PPT_11_RA</dc:title>
</cp:coreProperties>
</file>